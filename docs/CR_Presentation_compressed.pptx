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94" r:id="rId2"/>
    <p:sldId id="319" r:id="rId3"/>
    <p:sldId id="362" r:id="rId4"/>
    <p:sldId id="368" r:id="rId5"/>
    <p:sldId id="301" r:id="rId6"/>
    <p:sldId id="297" r:id="rId7"/>
    <p:sldId id="295" r:id="rId8"/>
    <p:sldId id="298" r:id="rId9"/>
    <p:sldId id="299" r:id="rId10"/>
    <p:sldId id="300" r:id="rId11"/>
    <p:sldId id="318" r:id="rId12"/>
    <p:sldId id="303" r:id="rId13"/>
    <p:sldId id="304" r:id="rId14"/>
    <p:sldId id="305" r:id="rId15"/>
    <p:sldId id="337" r:id="rId16"/>
    <p:sldId id="328" r:id="rId17"/>
    <p:sldId id="306" r:id="rId18"/>
    <p:sldId id="327" r:id="rId19"/>
    <p:sldId id="325" r:id="rId20"/>
    <p:sldId id="323" r:id="rId21"/>
    <p:sldId id="330" r:id="rId22"/>
    <p:sldId id="329" r:id="rId23"/>
    <p:sldId id="331" r:id="rId24"/>
    <p:sldId id="335" r:id="rId25"/>
    <p:sldId id="369" r:id="rId26"/>
    <p:sldId id="339" r:id="rId27"/>
    <p:sldId id="336" r:id="rId28"/>
    <p:sldId id="308" r:id="rId29"/>
    <p:sldId id="307" r:id="rId30"/>
    <p:sldId id="310" r:id="rId31"/>
    <p:sldId id="321" r:id="rId32"/>
    <p:sldId id="322" r:id="rId33"/>
    <p:sldId id="312" r:id="rId34"/>
    <p:sldId id="285" r:id="rId35"/>
    <p:sldId id="311" r:id="rId36"/>
    <p:sldId id="313"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79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672B52-1952-4ECC-B3B9-5729379C30AF}" v="3" dt="2026-05-30T16:40:16.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26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760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124B7-BA14-507D-DB08-D4A6C37BDF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2C1B4-0EEE-3AD0-E0BB-DCB411FC7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0CFCEF-4F1F-875C-CBD3-A35E98824E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8A704B-16A7-7642-E68D-58658FAEBD5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800867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743DF-F536-CD54-8BA1-651E65B5B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220E0-A090-BA73-5B53-1B9A3577C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81BF7-9976-1460-A26F-878E4B165A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4E4B10-3124-3D88-9ED9-2FA5995157E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73948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A1912-3DFB-2FF3-85B4-170EE7CC6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EBFF-10E1-C754-878C-F6CF726FB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42D14A-A274-6A7E-1160-4F84A575BD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27E49F-8879-8D65-B3BA-3C790CB4D3A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848462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DDF1C-02F3-E629-4BF9-7AE6BE1E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8D7EB-11D7-7CD4-AB02-922F7EC32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AFEF9C-A1F7-788F-9E63-5EF7CAE79B83}"/>
              </a:ext>
            </a:extLst>
          </p:cNvPr>
          <p:cNvSpPr>
            <a:spLocks noGrp="1"/>
          </p:cNvSpPr>
          <p:nvPr>
            <p:ph type="body" idx="1"/>
          </p:nvPr>
        </p:nvSpPr>
        <p:spPr/>
        <p:txBody>
          <a:bodyPr/>
          <a:lstStyle/>
          <a:p>
            <a:r>
              <a:rPr lang="en-US" dirty="0"/>
              <a:t>SCF = Stress Concentration Factor</a:t>
            </a:r>
          </a:p>
        </p:txBody>
      </p:sp>
      <p:sp>
        <p:nvSpPr>
          <p:cNvPr id="4" name="Slide Number Placeholder 3">
            <a:extLst>
              <a:ext uri="{FF2B5EF4-FFF2-40B4-BE49-F238E27FC236}">
                <a16:creationId xmlns:a16="http://schemas.microsoft.com/office/drawing/2014/main" id="{D537091B-9446-44CB-84EB-6BA86B46904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543951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1B882-FF2F-7D60-4E44-6F996E0A6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A4993-1DA5-FECF-1DBE-6A4FBAB1A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941A5-2521-FB7D-1848-34A2F09F05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CCCDFE-3F4D-6901-3D6D-5A9FF20DAF64}"/>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96963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97C59-52C0-2745-1F4B-3067CCA7B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D742D-FDAE-C359-6891-3B641FE8F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04235-D58F-E324-FDCA-BEEA0C230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AA8696-C8CF-B6E3-7AE0-B8485DB8FEC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22166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87CB-0E8C-F763-FDF5-7F1BB678BF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F9AC0-5115-2F40-DA0A-6FCF45C35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C6488-98E2-A8E6-FD47-C6ACF43E1D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85AFB2-3A29-0332-169F-5F1F57018CF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488736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942490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D816E-7D29-1037-6CFE-0A99D9525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6EA04-6637-4409-19C2-288ED3F51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E000F-A730-49A7-8947-45EC5AF34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F709C9-2E10-62BD-3C21-1CCD3E0FB5D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80701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A52D4-E808-C61D-7194-74369EED21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F0CB83-23DE-AE19-E977-79207A5E5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34160-5D79-3289-A72C-E4393506C8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567C0B-5FB8-0084-C891-05B8BF9671CB}"/>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801562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2F3D6-A9C7-DDB3-2F80-B05A824CB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14212-1015-133E-80B7-CCE13F37D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D628F-501C-D7C5-2FBE-74ACACF989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00274C-AADE-63C9-21BB-79A76432D6B3}"/>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2408812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E0F30-586B-1A81-DEF1-ABD65DC42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296CD-AA14-7DDA-E685-09E0C584B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127E9-B03A-99BC-3D81-59C2070809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9B6A70-8A86-0997-4AA7-1A58A432C872}"/>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6289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DAD24-B2CF-9EDC-33ED-C240DAD71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6A6AE-47C1-1FEF-64B6-A8A42B8744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FCAD7-63CE-002A-AD21-87CFF89BA8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1858FB-CAF3-93A9-B777-32E0D8D3AB0D}"/>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874468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97EA-9EE9-28E6-49B8-7A4D8FCBA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67709-9A27-4237-EC65-C43AA6B48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6ACFF-0D64-0858-D74D-2E66DAFD62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786091-CB21-C6BC-D788-1049E222DA5D}"/>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8428467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FE956-43BD-8BDF-F24B-07E7476F3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E7E91-600A-9FD6-A989-95E5D8291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D6362-056D-2BF9-0B95-F29681EEB6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8C85C6-CCF4-9ECC-D75E-F797700C6B5B}"/>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955329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2DAEC-593A-471A-3EE4-60A448459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BC96D-4F40-B9EF-A4BA-8B8B1DA90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C6586-714F-BAF0-82FC-87A962C5CC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486E47-DB83-2D3E-28D5-6D58CE4AD439}"/>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2604968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7A5C0-1172-9CB8-17F2-AC86AAFC6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4F309-BD1E-C771-5BB1-AA973DD28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F3AC8-E77A-13B8-6EAF-BD337F7059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91D7A-B274-D9B6-C826-435AA7D4D75E}"/>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0811467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5640-487A-BB1C-5C8B-EB3FBC929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80D2C8-5E76-CB85-C07D-9F0AA339F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70406-5440-90CB-9D31-FC49A7CEF9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1B0446-40DA-DC43-0B09-EC29CD804642}"/>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537123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2F6D-AE4A-7A92-D69E-ED6DBECA47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10A79-262C-758E-E947-1D50455FDE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2D52C-B99F-C381-5006-BA790BE212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B1F86C-147D-C0C6-2268-9D8D173FEA79}"/>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6522150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49353-4F8F-4C21-1CDD-D9419F0549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1CF4B-61B5-CAEB-190C-0D44EC914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3EBC1-1EE4-ED8F-E50A-23F575ED53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976405-1457-B8DF-9EF9-F3A0CE4AEFE0}"/>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836473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D33A-4F64-7CC5-A8FA-6FB5E64AC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0507E-80CC-2CE5-B037-D9FFFFEB16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8BA2C-0BB1-CB66-A536-2F34398484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6614E8-74BC-825F-E9F4-566104B98A96}"/>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081835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en.wikipedia.org/wiki/Wikipedia:Signs_of_AI_writing"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activating-expertise-proxy.asdfstuart.workers.dev/"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activating-expertise-proxy.asdfstuart.workers.dev/"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activating-expertise-proxy.asdfstuart.workers.dev/" TargetMode="Externa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3.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6400800" y="-1371600"/>
            <a:ext cx="4572000" cy="4572000"/>
          </a:xfrm>
          <a:prstGeom prst="ellipse">
            <a:avLst/>
          </a:prstGeom>
          <a:solidFill>
            <a:srgbClr val="C87941">
              <a:alpha val="8000"/>
            </a:srgbClr>
          </a:solidFill>
          <a:ln/>
        </p:spPr>
        <p:txBody>
          <a:bodyPr/>
          <a:lstStyle/>
          <a:p>
            <a:endParaRPr lang="en-US"/>
          </a:p>
        </p:txBody>
      </p:sp>
      <p:sp>
        <p:nvSpPr>
          <p:cNvPr id="3" name="Text 1"/>
          <p:cNvSpPr/>
          <p:nvPr/>
        </p:nvSpPr>
        <p:spPr>
          <a:xfrm>
            <a:off x="640080" y="731520"/>
            <a:ext cx="6858000" cy="457200"/>
          </a:xfrm>
          <a:prstGeom prst="rect">
            <a:avLst/>
          </a:prstGeom>
          <a:noFill/>
          <a:ln/>
        </p:spPr>
        <p:txBody>
          <a:bodyPr wrap="square" lIns="0" tIns="0" rIns="0" bIns="0" rtlCol="0" anchor="ctr"/>
          <a:lstStyle/>
          <a:p>
            <a:pPr marL="0" indent="0">
              <a:buNone/>
            </a:pPr>
            <a:r>
              <a:rPr lang="en-US" sz="1600" kern="0" spc="400" dirty="0">
                <a:solidFill>
                  <a:srgbClr val="C87941"/>
                </a:solidFill>
                <a:latin typeface="Calibri" pitchFamily="34" charset="0"/>
                <a:ea typeface="Calibri" pitchFamily="34" charset="-122"/>
                <a:cs typeface="Calibri" pitchFamily="34" charset="-120"/>
              </a:rPr>
              <a:t>COLLABORATIVE REASONING</a:t>
            </a:r>
            <a:endParaRPr lang="en-US" sz="1600" dirty="0"/>
          </a:p>
        </p:txBody>
      </p:sp>
      <p:sp>
        <p:nvSpPr>
          <p:cNvPr id="4" name="Text 2"/>
          <p:cNvSpPr/>
          <p:nvPr/>
        </p:nvSpPr>
        <p:spPr>
          <a:xfrm>
            <a:off x="640080" y="1280160"/>
            <a:ext cx="5933107" cy="1463040"/>
          </a:xfrm>
          <a:prstGeom prst="rect">
            <a:avLst/>
          </a:prstGeom>
          <a:noFill/>
          <a:ln/>
        </p:spPr>
        <p:txBody>
          <a:bodyPr wrap="square" lIns="0" tIns="0" rIns="0" bIns="0" rtlCol="0" anchor="ctr"/>
          <a:lstStyle/>
          <a:p>
            <a:pPr marL="0" indent="0">
              <a:lnSpc>
                <a:spcPct val="115000"/>
              </a:lnSpc>
              <a:buNone/>
            </a:pPr>
            <a:r>
              <a:rPr lang="en-US" sz="3600" dirty="0">
                <a:solidFill>
                  <a:srgbClr val="F0EDE6"/>
                </a:solidFill>
                <a:latin typeface="Georgia" pitchFamily="34" charset="0"/>
                <a:ea typeface="Georgia" pitchFamily="34" charset="-122"/>
                <a:cs typeface="Georgia" pitchFamily="34" charset="-120"/>
              </a:rPr>
              <a:t>AI-augmented technical work for small teams</a:t>
            </a:r>
            <a:endParaRPr lang="en-US" sz="3600" dirty="0"/>
          </a:p>
        </p:txBody>
      </p:sp>
      <p:sp>
        <p:nvSpPr>
          <p:cNvPr id="5" name="Text 3"/>
          <p:cNvSpPr/>
          <p:nvPr/>
        </p:nvSpPr>
        <p:spPr>
          <a:xfrm>
            <a:off x="640080" y="2926080"/>
            <a:ext cx="4572000" cy="365760"/>
          </a:xfrm>
          <a:prstGeom prst="rect">
            <a:avLst/>
          </a:prstGeom>
          <a:noFill/>
          <a:ln/>
        </p:spPr>
        <p:txBody>
          <a:bodyPr wrap="square" lIns="0" tIns="0" rIns="0" bIns="0" rtlCol="0" anchor="ctr"/>
          <a:lstStyle/>
          <a:p>
            <a:pPr marL="0" indent="0">
              <a:buNone/>
            </a:pPr>
            <a:r>
              <a:rPr lang="en-US" sz="1600" dirty="0">
                <a:solidFill>
                  <a:srgbClr val="AAAAAA"/>
                </a:solidFill>
                <a:latin typeface="Calibri" pitchFamily="34" charset="0"/>
                <a:ea typeface="Calibri" pitchFamily="34" charset="-122"/>
                <a:cs typeface="Calibri" pitchFamily="34" charset="-120"/>
              </a:rPr>
              <a:t>Quinn Morley, Unleashed Robotics, Inc.</a:t>
            </a:r>
            <a:endParaRPr lang="en-US" sz="1600" dirty="0"/>
          </a:p>
        </p:txBody>
      </p:sp>
      <p:sp>
        <p:nvSpPr>
          <p:cNvPr id="6" name="Shape 4"/>
          <p:cNvSpPr/>
          <p:nvPr/>
        </p:nvSpPr>
        <p:spPr>
          <a:xfrm>
            <a:off x="640079" y="3657600"/>
            <a:ext cx="1471206" cy="1097280"/>
          </a:xfrm>
          <a:prstGeom prst="rect">
            <a:avLst/>
          </a:prstGeom>
          <a:solidFill>
            <a:srgbClr val="C87941"/>
          </a:solidFill>
          <a:ln w="12700">
            <a:solidFill>
              <a:srgbClr val="2A2826"/>
            </a:solidFill>
            <a:prstDash val="dash"/>
          </a:ln>
        </p:spPr>
        <p:txBody>
          <a:bodyPr/>
          <a:lstStyle/>
          <a:p>
            <a:endParaRPr lang="en-US"/>
          </a:p>
        </p:txBody>
      </p:sp>
      <p:sp>
        <p:nvSpPr>
          <p:cNvPr id="8" name="Text 6"/>
          <p:cNvSpPr/>
          <p:nvPr/>
        </p:nvSpPr>
        <p:spPr>
          <a:xfrm>
            <a:off x="2233749" y="3977640"/>
            <a:ext cx="2743200" cy="365760"/>
          </a:xfrm>
          <a:prstGeom prst="rect">
            <a:avLst/>
          </a:prstGeom>
          <a:noFill/>
          <a:ln/>
        </p:spPr>
        <p:txBody>
          <a:bodyPr wrap="square" lIns="0" tIns="0" rIns="0" bIns="0" rtlCol="0" anchor="ctr"/>
          <a:lstStyle/>
          <a:p>
            <a:pPr marL="0" indent="0">
              <a:buNone/>
            </a:pPr>
            <a:r>
              <a:rPr lang="en-US" sz="1600" i="1" dirty="0">
                <a:solidFill>
                  <a:srgbClr val="AAAAAA"/>
                </a:solidFill>
                <a:latin typeface="Calibri" pitchFamily="34" charset="0"/>
                <a:ea typeface="Calibri" pitchFamily="34" charset="-122"/>
                <a:cs typeface="Calibri" pitchFamily="34" charset="-120"/>
              </a:rPr>
              <a:t>Toolkit included as attachment</a:t>
            </a:r>
            <a:endParaRPr lang="en-US" sz="1600" dirty="0"/>
          </a:p>
        </p:txBody>
      </p:sp>
      <p:graphicFrame>
        <p:nvGraphicFramePr>
          <p:cNvPr id="7" name="Object 6">
            <a:extLst>
              <a:ext uri="{FF2B5EF4-FFF2-40B4-BE49-F238E27FC236}">
                <a16:creationId xmlns:a16="http://schemas.microsoft.com/office/drawing/2014/main" id="{C01F21B3-587F-C554-4A08-CDDEA4390386}"/>
              </a:ext>
            </a:extLst>
          </p:cNvPr>
          <p:cNvGraphicFramePr>
            <a:graphicFrameLocks noChangeAspect="1"/>
          </p:cNvGraphicFramePr>
          <p:nvPr>
            <p:extLst>
              <p:ext uri="{D42A27DB-BD31-4B8C-83A1-F6EECF244321}">
                <p14:modId xmlns:p14="http://schemas.microsoft.com/office/powerpoint/2010/main" val="2137131044"/>
              </p:ext>
            </p:extLst>
          </p:nvPr>
        </p:nvGraphicFramePr>
        <p:xfrm>
          <a:off x="740593" y="4000178"/>
          <a:ext cx="1257300" cy="527050"/>
        </p:xfrm>
        <a:graphic>
          <a:graphicData uri="http://schemas.openxmlformats.org/presentationml/2006/ole">
            <mc:AlternateContent xmlns:mc="http://schemas.openxmlformats.org/markup-compatibility/2006">
              <mc:Choice xmlns:v="urn:schemas-microsoft-com:vml" Requires="v">
                <p:oleObj name="Packager Shell Object" showAsIcon="1" r:id="rId3" imgW="1257243" imgH="527152" progId="Package">
                  <p:embed/>
                </p:oleObj>
              </mc:Choice>
              <mc:Fallback>
                <p:oleObj name="Packager Shell Object" showAsIcon="1" r:id="rId3" imgW="1257243" imgH="527152" progId="Package">
                  <p:embed/>
                  <p:pic>
                    <p:nvPicPr>
                      <p:cNvPr id="7" name="Object 6">
                        <a:extLst>
                          <a:ext uri="{FF2B5EF4-FFF2-40B4-BE49-F238E27FC236}">
                            <a16:creationId xmlns:a16="http://schemas.microsoft.com/office/drawing/2014/main" id="{C01F21B3-587F-C554-4A08-CDDEA4390386}"/>
                          </a:ext>
                        </a:extLst>
                      </p:cNvPr>
                      <p:cNvPicPr/>
                      <p:nvPr/>
                    </p:nvPicPr>
                    <p:blipFill>
                      <a:blip r:embed="rId4"/>
                      <a:stretch>
                        <a:fillRect/>
                      </a:stretch>
                    </p:blipFill>
                    <p:spPr>
                      <a:xfrm>
                        <a:off x="740593" y="4000178"/>
                        <a:ext cx="1257300" cy="527050"/>
                      </a:xfrm>
                      <a:prstGeom prst="rect">
                        <a:avLst/>
                      </a:prstGeom>
                    </p:spPr>
                  </p:pic>
                </p:oleObj>
              </mc:Fallback>
            </mc:AlternateContent>
          </a:graphicData>
        </a:graphic>
      </p:graphicFrame>
    </p:spTree>
    <p:extLst>
      <p:ext uri="{BB962C8B-B14F-4D97-AF65-F5344CB8AC3E}">
        <p14:creationId xmlns:p14="http://schemas.microsoft.com/office/powerpoint/2010/main" val="1860759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85D367E5-A36E-4B80-C149-590F5760A92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91EB36-6695-57B7-8ACB-7323AB749A37}"/>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FractalMining Borebot</a:t>
            </a:r>
            <a:endParaRPr lang="en-US" sz="2800" dirty="0"/>
          </a:p>
        </p:txBody>
      </p:sp>
      <p:sp>
        <p:nvSpPr>
          <p:cNvPr id="3" name="Shape 1">
            <a:extLst>
              <a:ext uri="{FF2B5EF4-FFF2-40B4-BE49-F238E27FC236}">
                <a16:creationId xmlns:a16="http://schemas.microsoft.com/office/drawing/2014/main" id="{ABDD2EB8-8B17-5D41-30B1-4873E94F45AF}"/>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E1C31C9F-7EA7-D1C0-79CC-DF4AA4096FD1}"/>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8" name="Picture 7">
            <a:extLst>
              <a:ext uri="{FF2B5EF4-FFF2-40B4-BE49-F238E27FC236}">
                <a16:creationId xmlns:a16="http://schemas.microsoft.com/office/drawing/2014/main" id="{8073850A-5124-F00D-5924-FC99B6D1569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Lst>
          </a:blip>
          <a:stretch>
            <a:fillRect/>
          </a:stretch>
        </p:blipFill>
        <p:spPr>
          <a:xfrm>
            <a:off x="0" y="1155536"/>
            <a:ext cx="9144000" cy="3806777"/>
          </a:xfrm>
          <a:prstGeom prst="rect">
            <a:avLst/>
          </a:prstGeom>
        </p:spPr>
      </p:pic>
    </p:spTree>
    <p:extLst>
      <p:ext uri="{BB962C8B-B14F-4D97-AF65-F5344CB8AC3E}">
        <p14:creationId xmlns:p14="http://schemas.microsoft.com/office/powerpoint/2010/main" val="10937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400" dirty="0">
                <a:solidFill>
                  <a:srgbClr val="F0EDE6"/>
                </a:solidFill>
                <a:latin typeface="Georgia" pitchFamily="34" charset="0"/>
                <a:ea typeface="Georgia" pitchFamily="34" charset="-122"/>
                <a:cs typeface="Georgia" pitchFamily="34" charset="-120"/>
              </a:rPr>
              <a:t>The Problem</a:t>
            </a:r>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3</a:t>
            </a:r>
            <a:endParaRPr lang="en-US" sz="1000" dirty="0"/>
          </a:p>
        </p:txBody>
      </p:sp>
      <p:sp>
        <p:nvSpPr>
          <p:cNvPr id="25" name="TextBox 24">
            <a:extLst>
              <a:ext uri="{FF2B5EF4-FFF2-40B4-BE49-F238E27FC236}">
                <a16:creationId xmlns:a16="http://schemas.microsoft.com/office/drawing/2014/main" id="{5D061C17-EDE1-6777-E42D-EEF60E89FB53}"/>
              </a:ext>
            </a:extLst>
          </p:cNvPr>
          <p:cNvSpPr txBox="1"/>
          <p:nvPr/>
        </p:nvSpPr>
        <p:spPr>
          <a:xfrm>
            <a:off x="601300" y="1240615"/>
            <a:ext cx="7941401" cy="2638415"/>
          </a:xfrm>
          <a:prstGeom prst="rect">
            <a:avLst/>
          </a:prstGeom>
          <a:solidFill>
            <a:srgbClr val="1E1E1E"/>
          </a:solidFill>
          <a:ln>
            <a:noFill/>
          </a:ln>
        </p:spPr>
        <p:txBody>
          <a:bodyPr wrap="square">
            <a:spAutoFit/>
          </a:bodyPr>
          <a:lstStyle/>
          <a:p>
            <a:pPr marL="0" indent="0" algn="just">
              <a:lnSpc>
                <a:spcPct val="150000"/>
              </a:lnSpc>
              <a:buNone/>
            </a:pPr>
            <a:r>
              <a:rPr lang="en-US" sz="1400" i="1" dirty="0">
                <a:solidFill>
                  <a:srgbClr val="FFFFFF"/>
                </a:solidFill>
                <a:latin typeface="Georgia" pitchFamily="34" charset="0"/>
              </a:rPr>
              <a:t>Washington State University (WSU) will play a critical role in advancing the cutting-edge Titan Laker project. In collaboration with the Principal Investigator, WSU will conduct thorough research and development efforts to bring this innovative project to life. With a focus on evaluating the most effective collection and coalescence methods, determining the feasibility of the concept, and investigating the impact of precipitation in atmospheric cleaning events, WSU's expertise and research capabilities will drive the success of the Titan Laker project. By leveraging the strengths of an academic research institution like WSU, the Titan Laker project will be poised for breakthrough discoveries and advancements in planetary science.</a:t>
            </a:r>
          </a:p>
        </p:txBody>
      </p:sp>
      <p:pic>
        <p:nvPicPr>
          <p:cNvPr id="6" name="Picture 5">
            <a:extLst>
              <a:ext uri="{FF2B5EF4-FFF2-40B4-BE49-F238E27FC236}">
                <a16:creationId xmlns:a16="http://schemas.microsoft.com/office/drawing/2014/main" id="{027E2460-9727-F1B6-DF42-BA95D257BDB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40000"/>
                    </a14:imgEffect>
                  </a14:imgLayer>
                </a14:imgProps>
              </a:ext>
            </a:extLst>
          </a:blip>
          <a:srcRect b="10870"/>
          <a:stretch>
            <a:fillRect/>
          </a:stretch>
        </p:blipFill>
        <p:spPr>
          <a:xfrm>
            <a:off x="6665338" y="762040"/>
            <a:ext cx="1838582" cy="356616"/>
          </a:xfrm>
          <a:prstGeom prst="rect">
            <a:avLst/>
          </a:prstGeom>
          <a:ln w="19050">
            <a:solidFill>
              <a:schemeClr val="bg1">
                <a:lumMod val="85000"/>
              </a:schemeClr>
            </a:solidFill>
          </a:ln>
        </p:spPr>
      </p:pic>
    </p:spTree>
    <p:extLst>
      <p:ext uri="{BB962C8B-B14F-4D97-AF65-F5344CB8AC3E}">
        <p14:creationId xmlns:p14="http://schemas.microsoft.com/office/powerpoint/2010/main" val="623099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400" dirty="0">
                <a:solidFill>
                  <a:srgbClr val="F0EDE6"/>
                </a:solidFill>
                <a:latin typeface="Georgia"/>
              </a:rPr>
              <a:t>The Problem</a:t>
            </a:r>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25" name="TextBox 24">
            <a:extLst>
              <a:ext uri="{FF2B5EF4-FFF2-40B4-BE49-F238E27FC236}">
                <a16:creationId xmlns:a16="http://schemas.microsoft.com/office/drawing/2014/main" id="{5D061C17-EDE1-6777-E42D-EEF60E89FB53}"/>
              </a:ext>
            </a:extLst>
          </p:cNvPr>
          <p:cNvSpPr txBox="1"/>
          <p:nvPr/>
        </p:nvSpPr>
        <p:spPr>
          <a:xfrm>
            <a:off x="601300" y="1240615"/>
            <a:ext cx="7941401" cy="2638415"/>
          </a:xfrm>
          <a:prstGeom prst="rect">
            <a:avLst/>
          </a:prstGeom>
          <a:solidFill>
            <a:srgbClr val="1E1E1E"/>
          </a:solidFill>
          <a:ln>
            <a:noFill/>
          </a:ln>
        </p:spPr>
        <p:txBody>
          <a:bodyPr wrap="square">
            <a:spAutoFit/>
          </a:bodyPr>
          <a:lstStyle/>
          <a:p>
            <a:pPr marL="0" indent="0" algn="just">
              <a:lnSpc>
                <a:spcPct val="150000"/>
              </a:lnSpc>
              <a:buNone/>
            </a:pPr>
            <a:r>
              <a:rPr lang="en-US" sz="1400" i="1" dirty="0">
                <a:solidFill>
                  <a:srgbClr val="FFFFFF"/>
                </a:solidFill>
                <a:latin typeface="Georgia" pitchFamily="34" charset="0"/>
              </a:rPr>
              <a:t>Washington State University (WSU) will </a:t>
            </a:r>
            <a:r>
              <a:rPr lang="en-US" sz="1400" i="1" u="sng" dirty="0">
                <a:solidFill>
                  <a:srgbClr val="E05252"/>
                </a:solidFill>
                <a:latin typeface="Georgia" pitchFamily="34" charset="0"/>
              </a:rPr>
              <a:t>play a critical role in advancing</a:t>
            </a:r>
            <a:r>
              <a:rPr lang="en-US" sz="1400" i="1" dirty="0">
                <a:solidFill>
                  <a:srgbClr val="FFFFFF"/>
                </a:solidFill>
                <a:latin typeface="Georgia" pitchFamily="34" charset="0"/>
              </a:rPr>
              <a:t> the </a:t>
            </a:r>
            <a:r>
              <a:rPr lang="en-US" sz="1400" i="1" u="sng" dirty="0">
                <a:solidFill>
                  <a:srgbClr val="E8A838"/>
                </a:solidFill>
                <a:latin typeface="Georgia" pitchFamily="34" charset="0"/>
              </a:rPr>
              <a:t>cutting-edge</a:t>
            </a:r>
            <a:r>
              <a:rPr lang="en-US" sz="1400" i="1" dirty="0">
                <a:solidFill>
                  <a:srgbClr val="FFFFFF"/>
                </a:solidFill>
                <a:latin typeface="Georgia" pitchFamily="34" charset="0"/>
              </a:rPr>
              <a:t> Titan Laker project. In collaboration with the Principal Investigator, WSU will conduct </a:t>
            </a:r>
            <a:r>
              <a:rPr lang="en-US" sz="1400" i="1" u="sng" dirty="0">
                <a:solidFill>
                  <a:srgbClr val="9B59B6"/>
                </a:solidFill>
                <a:latin typeface="Georgia" pitchFamily="34" charset="0"/>
              </a:rPr>
              <a:t>thorough research and development efforts</a:t>
            </a:r>
            <a:r>
              <a:rPr lang="en-US" sz="1400" i="1" dirty="0">
                <a:solidFill>
                  <a:srgbClr val="FFFFFF"/>
                </a:solidFill>
                <a:latin typeface="Georgia" pitchFamily="34" charset="0"/>
              </a:rPr>
              <a:t> to </a:t>
            </a:r>
            <a:r>
              <a:rPr lang="en-US" sz="1400" i="1" u="sng" dirty="0">
                <a:solidFill>
                  <a:srgbClr val="E8A838"/>
                </a:solidFill>
                <a:latin typeface="Georgia" pitchFamily="34" charset="0"/>
              </a:rPr>
              <a:t>bring this innovative project to life</a:t>
            </a:r>
            <a:r>
              <a:rPr lang="en-US" sz="1400" i="1" dirty="0">
                <a:solidFill>
                  <a:srgbClr val="FFFFFF"/>
                </a:solidFill>
                <a:latin typeface="Georgia" pitchFamily="34" charset="0"/>
              </a:rPr>
              <a:t>. </a:t>
            </a:r>
            <a:r>
              <a:rPr lang="en-US" sz="1400" i="1" u="sng" dirty="0">
                <a:solidFill>
                  <a:srgbClr val="2ECC71"/>
                </a:solidFill>
                <a:latin typeface="Georgia" pitchFamily="34" charset="0"/>
              </a:rPr>
              <a:t>With a focus on evaluating the most effective collection and coalescence methods, determining the feasibility of the concept, and investigating the impact of precipitation in atmospheric cleaning events,</a:t>
            </a:r>
            <a:r>
              <a:rPr lang="en-US" sz="1400" i="1" dirty="0">
                <a:solidFill>
                  <a:srgbClr val="FFFFFF"/>
                </a:solidFill>
                <a:latin typeface="Georgia" pitchFamily="34" charset="0"/>
              </a:rPr>
              <a:t> WSU's </a:t>
            </a:r>
            <a:r>
              <a:rPr lang="en-US" sz="1400" i="1" u="sng" dirty="0">
                <a:solidFill>
                  <a:srgbClr val="9B59B6"/>
                </a:solidFill>
                <a:latin typeface="Georgia" pitchFamily="34" charset="0"/>
              </a:rPr>
              <a:t>expertise and research capabilities will drive the success of</a:t>
            </a:r>
            <a:r>
              <a:rPr lang="en-US" sz="1400" i="1" dirty="0">
                <a:solidFill>
                  <a:srgbClr val="FFFFFF"/>
                </a:solidFill>
                <a:latin typeface="Georgia" pitchFamily="34" charset="0"/>
              </a:rPr>
              <a:t> the Titan Laker project. By </a:t>
            </a:r>
            <a:r>
              <a:rPr lang="en-US" sz="1400" i="1" u="sng" dirty="0">
                <a:solidFill>
                  <a:srgbClr val="3498DB"/>
                </a:solidFill>
                <a:latin typeface="Georgia" pitchFamily="34" charset="0"/>
              </a:rPr>
              <a:t>leveraging the strengths of</a:t>
            </a:r>
            <a:r>
              <a:rPr lang="en-US" sz="1400" i="1" dirty="0">
                <a:solidFill>
                  <a:srgbClr val="FFFFFF"/>
                </a:solidFill>
                <a:latin typeface="Georgia" pitchFamily="34" charset="0"/>
              </a:rPr>
              <a:t> an academic research institution like WSU, the Titan Laker project will be </a:t>
            </a:r>
            <a:r>
              <a:rPr lang="en-US" sz="1400" i="1" u="sng" dirty="0">
                <a:solidFill>
                  <a:srgbClr val="E05252"/>
                </a:solidFill>
                <a:latin typeface="Georgia" pitchFamily="34" charset="0"/>
              </a:rPr>
              <a:t>poised for breakthrough discoveries and advancements in planetary science</a:t>
            </a:r>
            <a:r>
              <a:rPr lang="en-US" sz="1400" i="1" dirty="0">
                <a:solidFill>
                  <a:srgbClr val="FFFFFF"/>
                </a:solidFill>
                <a:latin typeface="Georgia" pitchFamily="34" charset="0"/>
              </a:rPr>
              <a:t>.</a:t>
            </a:r>
          </a:p>
        </p:txBody>
      </p:sp>
      <p:pic>
        <p:nvPicPr>
          <p:cNvPr id="6" name="Picture 5">
            <a:extLst>
              <a:ext uri="{FF2B5EF4-FFF2-40B4-BE49-F238E27FC236}">
                <a16:creationId xmlns:a16="http://schemas.microsoft.com/office/drawing/2014/main" id="{027E2460-9727-F1B6-DF42-BA95D257BDB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40000"/>
                    </a14:imgEffect>
                  </a14:imgLayer>
                </a14:imgProps>
              </a:ext>
            </a:extLst>
          </a:blip>
          <a:srcRect b="10870"/>
          <a:stretch>
            <a:fillRect/>
          </a:stretch>
        </p:blipFill>
        <p:spPr>
          <a:xfrm>
            <a:off x="6665338" y="762040"/>
            <a:ext cx="1838582" cy="356616"/>
          </a:xfrm>
          <a:prstGeom prst="rect">
            <a:avLst/>
          </a:prstGeom>
          <a:ln w="19050">
            <a:solidFill>
              <a:schemeClr val="bg1">
                <a:lumMod val="85000"/>
              </a:schemeClr>
            </a:solidFill>
          </a:ln>
        </p:spPr>
      </p:pic>
      <p:cxnSp>
        <p:nvCxnSpPr>
          <p:cNvPr id="301" name="Leader 300"/>
          <p:cNvCxnSpPr>
            <a:cxnSpLocks/>
            <a:endCxn id="300" idx="2"/>
          </p:cNvCxnSpPr>
          <p:nvPr/>
        </p:nvCxnSpPr>
        <p:spPr>
          <a:xfrm flipH="1" flipV="1">
            <a:off x="3586801" y="959031"/>
            <a:ext cx="490358" cy="423716"/>
          </a:xfrm>
          <a:prstGeom prst="line">
            <a:avLst/>
          </a:prstGeom>
          <a:ln w="28575">
            <a:solidFill>
              <a:srgbClr val="E05252"/>
            </a:solidFill>
          </a:ln>
        </p:spPr>
      </p:cxnSp>
      <p:cxnSp>
        <p:nvCxnSpPr>
          <p:cNvPr id="303" name="Leader 302"/>
          <p:cNvCxnSpPr>
            <a:cxnSpLocks/>
            <a:endCxn id="302" idx="2"/>
          </p:cNvCxnSpPr>
          <p:nvPr/>
        </p:nvCxnSpPr>
        <p:spPr>
          <a:xfrm flipV="1">
            <a:off x="7349675" y="935419"/>
            <a:ext cx="560718" cy="456307"/>
          </a:xfrm>
          <a:prstGeom prst="line">
            <a:avLst/>
          </a:prstGeom>
          <a:ln w="28575">
            <a:solidFill>
              <a:srgbClr val="E8A838"/>
            </a:solidFill>
          </a:ln>
        </p:spPr>
      </p:cxnSp>
      <p:sp>
        <p:nvSpPr>
          <p:cNvPr id="302" name="Callout WP:AIPUFFERY"/>
          <p:cNvSpPr/>
          <p:nvPr/>
        </p:nvSpPr>
        <p:spPr>
          <a:xfrm rot="240000">
            <a:off x="6841994" y="162931"/>
            <a:ext cx="2190750" cy="773430"/>
          </a:xfrm>
          <a:prstGeom prst="roundRect">
            <a:avLst>
              <a:gd name="adj" fmla="val 10000"/>
            </a:avLst>
          </a:prstGeom>
          <a:solidFill>
            <a:srgbClr val="000000"/>
          </a:solidFill>
          <a:ln w="25400">
            <a:solidFill>
              <a:srgbClr val="E8A838"/>
            </a:solidFill>
          </a:ln>
        </p:spPr>
        <p:txBody>
          <a:bodyPr wrap="square" lIns="36576" tIns="27432" rIns="36576" bIns="18288" anchor="t"/>
          <a:lstStyle/>
          <a:p>
            <a:pPr algn="l">
              <a:buNone/>
            </a:pPr>
            <a:r>
              <a:rPr lang="en-US" sz="1800" b="1" dirty="0">
                <a:solidFill>
                  <a:srgbClr val="E8A838"/>
                </a:solidFill>
                <a:latin typeface="Calibri"/>
              </a:rPr>
              <a:t>AI Puffery</a:t>
            </a:r>
          </a:p>
          <a:p>
            <a:pPr algn="l">
              <a:buNone/>
            </a:pPr>
            <a:r>
              <a:rPr lang="en-US" sz="1200" dirty="0">
                <a:solidFill>
                  <a:srgbClr val="CCCCCC"/>
                </a:solidFill>
                <a:latin typeface="Calibri"/>
              </a:rPr>
              <a:t>"cutting-edge"
Means nothing. Which edge?</a:t>
            </a:r>
          </a:p>
        </p:txBody>
      </p:sp>
      <p:cxnSp>
        <p:nvCxnSpPr>
          <p:cNvPr id="305" name="Leader 304"/>
          <p:cNvCxnSpPr>
            <a:cxnSpLocks/>
            <a:stCxn id="304" idx="2"/>
          </p:cNvCxnSpPr>
          <p:nvPr/>
        </p:nvCxnSpPr>
        <p:spPr>
          <a:xfrm>
            <a:off x="5672910" y="867861"/>
            <a:ext cx="1994263" cy="876301"/>
          </a:xfrm>
          <a:prstGeom prst="line">
            <a:avLst/>
          </a:prstGeom>
          <a:ln w="28575">
            <a:solidFill>
              <a:srgbClr val="9B59B6"/>
            </a:solidFill>
          </a:ln>
        </p:spPr>
      </p:cxnSp>
      <p:cxnSp>
        <p:nvCxnSpPr>
          <p:cNvPr id="307" name="Leader 306"/>
          <p:cNvCxnSpPr>
            <a:cxnSpLocks/>
            <a:endCxn id="306" idx="0"/>
          </p:cNvCxnSpPr>
          <p:nvPr/>
        </p:nvCxnSpPr>
        <p:spPr>
          <a:xfrm>
            <a:off x="6751864" y="2221489"/>
            <a:ext cx="986124" cy="1831979"/>
          </a:xfrm>
          <a:prstGeom prst="line">
            <a:avLst/>
          </a:prstGeom>
          <a:ln w="28575">
            <a:solidFill>
              <a:srgbClr val="E8A838"/>
            </a:solidFill>
          </a:ln>
        </p:spPr>
      </p:cxnSp>
      <p:cxnSp>
        <p:nvCxnSpPr>
          <p:cNvPr id="309" name="Leader 308"/>
          <p:cNvCxnSpPr>
            <a:cxnSpLocks/>
            <a:stCxn id="308" idx="2"/>
          </p:cNvCxnSpPr>
          <p:nvPr/>
        </p:nvCxnSpPr>
        <p:spPr>
          <a:xfrm>
            <a:off x="1440682" y="1296150"/>
            <a:ext cx="486089" cy="1027910"/>
          </a:xfrm>
          <a:prstGeom prst="line">
            <a:avLst/>
          </a:prstGeom>
          <a:ln w="28575">
            <a:solidFill>
              <a:srgbClr val="2ECC71"/>
            </a:solidFill>
          </a:ln>
        </p:spPr>
      </p:cxnSp>
      <p:sp>
        <p:nvSpPr>
          <p:cNvPr id="308" name="Callout WP:RO3"/>
          <p:cNvSpPr/>
          <p:nvPr/>
        </p:nvSpPr>
        <p:spPr>
          <a:xfrm rot="240000">
            <a:off x="230087" y="413307"/>
            <a:ext cx="2482850" cy="883920"/>
          </a:xfrm>
          <a:prstGeom prst="roundRect">
            <a:avLst>
              <a:gd name="adj" fmla="val 10000"/>
            </a:avLst>
          </a:prstGeom>
          <a:solidFill>
            <a:srgbClr val="000000"/>
          </a:solidFill>
          <a:ln w="25400">
            <a:solidFill>
              <a:srgbClr val="2ECC71"/>
            </a:solidFill>
          </a:ln>
        </p:spPr>
        <p:txBody>
          <a:bodyPr wrap="square" lIns="36576" tIns="27432" rIns="36576" bIns="18288" anchor="t"/>
          <a:lstStyle/>
          <a:p>
            <a:pPr algn="l">
              <a:buNone/>
            </a:pPr>
            <a:r>
              <a:rPr lang="en-US" sz="1800" b="1" dirty="0">
                <a:solidFill>
                  <a:srgbClr val="2ECC71"/>
                </a:solidFill>
                <a:latin typeface="Calibri"/>
              </a:rPr>
              <a:t>RO3/Tricolon</a:t>
            </a:r>
          </a:p>
          <a:p>
            <a:pPr algn="l">
              <a:buNone/>
            </a:pPr>
            <a:r>
              <a:rPr lang="en-US" sz="1200" dirty="0">
                <a:solidFill>
                  <a:srgbClr val="CCCCCC"/>
                </a:solidFill>
                <a:latin typeface="Calibri"/>
              </a:rPr>
              <a:t>Tricolon! Three gerund phrases.
3rd item weakest = padding to three.</a:t>
            </a:r>
          </a:p>
        </p:txBody>
      </p:sp>
      <p:cxnSp>
        <p:nvCxnSpPr>
          <p:cNvPr id="311" name="Leader 310"/>
          <p:cNvCxnSpPr>
            <a:cxnSpLocks/>
            <a:endCxn id="310" idx="0"/>
          </p:cNvCxnSpPr>
          <p:nvPr/>
        </p:nvCxnSpPr>
        <p:spPr>
          <a:xfrm flipH="1">
            <a:off x="3604089" y="3209275"/>
            <a:ext cx="1051870" cy="936913"/>
          </a:xfrm>
          <a:prstGeom prst="line">
            <a:avLst/>
          </a:prstGeom>
          <a:ln w="28575">
            <a:solidFill>
              <a:srgbClr val="9B59B6"/>
            </a:solidFill>
          </a:ln>
        </p:spPr>
      </p:cxnSp>
      <p:sp>
        <p:nvSpPr>
          <p:cNvPr id="310" name="Callout WP:SUPERFICIAL"/>
          <p:cNvSpPr/>
          <p:nvPr/>
        </p:nvSpPr>
        <p:spPr>
          <a:xfrm rot="-240000">
            <a:off x="2462665" y="4145246"/>
            <a:ext cx="2336800" cy="773430"/>
          </a:xfrm>
          <a:prstGeom prst="roundRect">
            <a:avLst>
              <a:gd name="adj" fmla="val 10000"/>
            </a:avLst>
          </a:prstGeom>
          <a:solidFill>
            <a:srgbClr val="000000"/>
          </a:solidFill>
          <a:ln w="25400">
            <a:solidFill>
              <a:srgbClr val="9B59B6"/>
            </a:solidFill>
          </a:ln>
        </p:spPr>
        <p:txBody>
          <a:bodyPr wrap="square" lIns="36576" tIns="27432" rIns="36576" bIns="18288" anchor="t"/>
          <a:lstStyle/>
          <a:p>
            <a:pPr algn="l">
              <a:buNone/>
            </a:pPr>
            <a:r>
              <a:rPr lang="en-US" sz="1800" b="1" dirty="0">
                <a:solidFill>
                  <a:srgbClr val="9B59B6"/>
                </a:solidFill>
                <a:latin typeface="Calibri"/>
              </a:rPr>
              <a:t>Superficial</a:t>
            </a:r>
          </a:p>
          <a:p>
            <a:pPr algn="l">
              <a:buNone/>
            </a:pPr>
            <a:r>
              <a:rPr lang="en-US" sz="1200" dirty="0">
                <a:solidFill>
                  <a:srgbClr val="CCCCCC"/>
                </a:solidFill>
                <a:latin typeface="Calibri"/>
              </a:rPr>
              <a:t>"expertise will drive success"
Circular. Says nothing new.</a:t>
            </a:r>
          </a:p>
        </p:txBody>
      </p:sp>
      <p:cxnSp>
        <p:nvCxnSpPr>
          <p:cNvPr id="313" name="Leader 312"/>
          <p:cNvCxnSpPr>
            <a:cxnSpLocks/>
            <a:endCxn id="312" idx="0"/>
          </p:cNvCxnSpPr>
          <p:nvPr/>
        </p:nvCxnSpPr>
        <p:spPr>
          <a:xfrm>
            <a:off x="963386" y="3548512"/>
            <a:ext cx="320883" cy="487886"/>
          </a:xfrm>
          <a:prstGeom prst="line">
            <a:avLst/>
          </a:prstGeom>
          <a:ln w="28575">
            <a:solidFill>
              <a:srgbClr val="3498DB"/>
            </a:solidFill>
          </a:ln>
        </p:spPr>
      </p:cxnSp>
      <p:sp>
        <p:nvSpPr>
          <p:cNvPr id="312" name="Callout WP:AIVOCAB"/>
          <p:cNvSpPr/>
          <p:nvPr/>
        </p:nvSpPr>
        <p:spPr>
          <a:xfrm rot="300000">
            <a:off x="82165" y="4034926"/>
            <a:ext cx="2336800" cy="773430"/>
          </a:xfrm>
          <a:prstGeom prst="roundRect">
            <a:avLst>
              <a:gd name="adj" fmla="val 10000"/>
            </a:avLst>
          </a:prstGeom>
          <a:solidFill>
            <a:srgbClr val="000000"/>
          </a:solidFill>
          <a:ln w="25400">
            <a:solidFill>
              <a:srgbClr val="3498DB"/>
            </a:solidFill>
          </a:ln>
        </p:spPr>
        <p:txBody>
          <a:bodyPr wrap="square" lIns="36576" tIns="27432" rIns="36576" bIns="18288" anchor="t"/>
          <a:lstStyle/>
          <a:p>
            <a:pPr algn="l">
              <a:buNone/>
            </a:pPr>
            <a:r>
              <a:rPr lang="en-US" sz="1800" b="1" dirty="0">
                <a:solidFill>
                  <a:srgbClr val="3498DB"/>
                </a:solidFill>
                <a:latin typeface="Calibri"/>
              </a:rPr>
              <a:t>AI Vocab</a:t>
            </a:r>
          </a:p>
          <a:p>
            <a:pPr algn="l">
              <a:buNone/>
            </a:pPr>
            <a:r>
              <a:rPr lang="en-US" sz="1200" dirty="0">
                <a:solidFill>
                  <a:srgbClr val="CCCCCC"/>
                </a:solidFill>
                <a:latin typeface="Calibri"/>
              </a:rPr>
              <a:t>"leveraging the strengths of"
WP:AISIGNS top-10 phrase.</a:t>
            </a:r>
          </a:p>
        </p:txBody>
      </p:sp>
      <p:cxnSp>
        <p:nvCxnSpPr>
          <p:cNvPr id="315" name="Leader 314"/>
          <p:cNvCxnSpPr>
            <a:cxnSpLocks/>
            <a:endCxn id="314" idx="0"/>
          </p:cNvCxnSpPr>
          <p:nvPr/>
        </p:nvCxnSpPr>
        <p:spPr>
          <a:xfrm>
            <a:off x="5185033" y="3802929"/>
            <a:ext cx="446846" cy="299516"/>
          </a:xfrm>
          <a:prstGeom prst="line">
            <a:avLst/>
          </a:prstGeom>
          <a:ln w="28575">
            <a:solidFill>
              <a:srgbClr val="E05252"/>
            </a:solidFill>
          </a:ln>
        </p:spPr>
      </p:cxnSp>
      <p:sp>
        <p:nvSpPr>
          <p:cNvPr id="314" name="Callout WP:AIWTW"/>
          <p:cNvSpPr/>
          <p:nvPr/>
        </p:nvSpPr>
        <p:spPr>
          <a:xfrm rot="-180000">
            <a:off x="4425298" y="4101915"/>
            <a:ext cx="2453640" cy="773430"/>
          </a:xfrm>
          <a:prstGeom prst="roundRect">
            <a:avLst>
              <a:gd name="adj" fmla="val 10000"/>
            </a:avLst>
          </a:prstGeom>
          <a:solidFill>
            <a:srgbClr val="000000"/>
          </a:solidFill>
          <a:ln w="25400">
            <a:solidFill>
              <a:srgbClr val="E05252"/>
            </a:solidFill>
          </a:ln>
        </p:spPr>
        <p:txBody>
          <a:bodyPr wrap="square" lIns="36576" tIns="27432" rIns="36576" bIns="18288" anchor="t"/>
          <a:lstStyle/>
          <a:p>
            <a:pPr algn="l">
              <a:buNone/>
            </a:pPr>
            <a:r>
              <a:rPr lang="en-US" sz="1800" b="1" dirty="0">
                <a:solidFill>
                  <a:srgbClr val="E05252"/>
                </a:solidFill>
                <a:latin typeface="Calibri"/>
              </a:rPr>
              <a:t>AI </a:t>
            </a:r>
            <a:r>
              <a:rPr lang="en-US" b="1" dirty="0">
                <a:solidFill>
                  <a:srgbClr val="E05252"/>
                </a:solidFill>
                <a:latin typeface="Calibri"/>
              </a:rPr>
              <a:t>What the World</a:t>
            </a:r>
            <a:endParaRPr lang="en-US" sz="1800" b="1" dirty="0">
              <a:solidFill>
                <a:srgbClr val="E05252"/>
              </a:solidFill>
              <a:latin typeface="Calibri"/>
            </a:endParaRPr>
          </a:p>
          <a:p>
            <a:pPr algn="l">
              <a:buNone/>
            </a:pPr>
            <a:r>
              <a:rPr lang="en-US" sz="1200" dirty="0">
                <a:solidFill>
                  <a:srgbClr val="CCCCCC"/>
                </a:solidFill>
                <a:latin typeface="Calibri"/>
              </a:rPr>
              <a:t>"poised for breakthroughs"
Significance sandwich closer.</a:t>
            </a:r>
          </a:p>
        </p:txBody>
      </p:sp>
      <p:sp>
        <p:nvSpPr>
          <p:cNvPr id="300" name="Callout WP:AIWTW"/>
          <p:cNvSpPr/>
          <p:nvPr/>
        </p:nvSpPr>
        <p:spPr>
          <a:xfrm rot="-180000">
            <a:off x="2507699" y="186131"/>
            <a:ext cx="2117725" cy="773430"/>
          </a:xfrm>
          <a:prstGeom prst="roundRect">
            <a:avLst>
              <a:gd name="adj" fmla="val 10000"/>
            </a:avLst>
          </a:prstGeom>
          <a:solidFill>
            <a:srgbClr val="000000"/>
          </a:solidFill>
          <a:ln w="25400">
            <a:solidFill>
              <a:srgbClr val="E05252"/>
            </a:solidFill>
          </a:ln>
        </p:spPr>
        <p:txBody>
          <a:bodyPr wrap="square" lIns="36576" tIns="27432" rIns="36576" bIns="18288" anchor="t"/>
          <a:lstStyle/>
          <a:p>
            <a:pPr algn="l">
              <a:buNone/>
            </a:pPr>
            <a:r>
              <a:rPr lang="en-US" sz="1800" b="1" dirty="0">
                <a:solidFill>
                  <a:srgbClr val="E05252"/>
                </a:solidFill>
                <a:latin typeface="Calibri"/>
              </a:rPr>
              <a:t>AI What the World</a:t>
            </a:r>
          </a:p>
          <a:p>
            <a:pPr algn="l">
              <a:buNone/>
            </a:pPr>
            <a:r>
              <a:rPr lang="en-US" sz="1200" dirty="0">
                <a:solidFill>
                  <a:srgbClr val="CCCCCC"/>
                </a:solidFill>
                <a:latin typeface="Calibri"/>
              </a:rPr>
              <a:t>"Critical role in advancing"
Significance sandwich opener</a:t>
            </a:r>
          </a:p>
        </p:txBody>
      </p:sp>
      <p:sp>
        <p:nvSpPr>
          <p:cNvPr id="306" name="Callout WP:AIPUFFERY"/>
          <p:cNvSpPr/>
          <p:nvPr/>
        </p:nvSpPr>
        <p:spPr>
          <a:xfrm rot="180000">
            <a:off x="6549349" y="4052938"/>
            <a:ext cx="2336800" cy="773430"/>
          </a:xfrm>
          <a:prstGeom prst="roundRect">
            <a:avLst>
              <a:gd name="adj" fmla="val 10000"/>
            </a:avLst>
          </a:prstGeom>
          <a:solidFill>
            <a:srgbClr val="000000"/>
          </a:solidFill>
          <a:ln w="25400">
            <a:solidFill>
              <a:srgbClr val="E8A838"/>
            </a:solidFill>
          </a:ln>
        </p:spPr>
        <p:txBody>
          <a:bodyPr wrap="square" lIns="36576" tIns="27432" rIns="36576" bIns="18288" anchor="t"/>
          <a:lstStyle/>
          <a:p>
            <a:pPr algn="l">
              <a:buNone/>
            </a:pPr>
            <a:r>
              <a:rPr lang="en-US" sz="1800" b="1" dirty="0">
                <a:solidFill>
                  <a:srgbClr val="E8A838"/>
                </a:solidFill>
                <a:latin typeface="Calibri"/>
              </a:rPr>
              <a:t>AI Puffery</a:t>
            </a:r>
          </a:p>
          <a:p>
            <a:pPr algn="l">
              <a:buNone/>
            </a:pPr>
            <a:r>
              <a:rPr lang="en-US" sz="1200" dirty="0">
                <a:solidFill>
                  <a:srgbClr val="CCCCCC"/>
                </a:solidFill>
                <a:latin typeface="Calibri"/>
              </a:rPr>
              <a:t>"innovative project to life"
Cliché. Zero information.</a:t>
            </a:r>
          </a:p>
        </p:txBody>
      </p:sp>
      <p:sp>
        <p:nvSpPr>
          <p:cNvPr id="304" name="Callout WP:SUPERFICIAL"/>
          <p:cNvSpPr/>
          <p:nvPr/>
        </p:nvSpPr>
        <p:spPr>
          <a:xfrm rot="-300000">
            <a:off x="4529226" y="95903"/>
            <a:ext cx="2219960" cy="773430"/>
          </a:xfrm>
          <a:prstGeom prst="roundRect">
            <a:avLst>
              <a:gd name="adj" fmla="val 10000"/>
            </a:avLst>
          </a:prstGeom>
          <a:solidFill>
            <a:srgbClr val="000000"/>
          </a:solidFill>
          <a:ln w="25400">
            <a:solidFill>
              <a:srgbClr val="9B59B6"/>
            </a:solidFill>
          </a:ln>
        </p:spPr>
        <p:txBody>
          <a:bodyPr wrap="square" lIns="36576" tIns="27432" rIns="36576" bIns="18288" anchor="t"/>
          <a:lstStyle/>
          <a:p>
            <a:pPr algn="l">
              <a:buNone/>
            </a:pPr>
            <a:r>
              <a:rPr lang="en-US" sz="1800" b="1" dirty="0">
                <a:solidFill>
                  <a:srgbClr val="9B59B6"/>
                </a:solidFill>
                <a:latin typeface="Calibri"/>
              </a:rPr>
              <a:t>Superficial</a:t>
            </a:r>
          </a:p>
          <a:p>
            <a:pPr algn="l">
              <a:buNone/>
            </a:pPr>
            <a:r>
              <a:rPr lang="en-US" sz="1200" dirty="0">
                <a:solidFill>
                  <a:srgbClr val="CCCCCC"/>
                </a:solidFill>
                <a:latin typeface="Calibri"/>
              </a:rPr>
              <a:t>"thorough R&amp;D efforts"
What R&amp;D? Says zero.</a:t>
            </a:r>
          </a:p>
        </p:txBody>
      </p:sp>
    </p:spTree>
    <p:extLst>
      <p:ext uri="{BB962C8B-B14F-4D97-AF65-F5344CB8AC3E}">
        <p14:creationId xmlns:p14="http://schemas.microsoft.com/office/powerpoint/2010/main" val="3785040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Killing AI slop</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9</a:t>
            </a:r>
            <a:endParaRPr lang="en-US" sz="1000" dirty="0"/>
          </a:p>
        </p:txBody>
      </p:sp>
      <p:pic>
        <p:nvPicPr>
          <p:cNvPr id="9" name="Picture 8">
            <a:extLst>
              <a:ext uri="{FF2B5EF4-FFF2-40B4-BE49-F238E27FC236}">
                <a16:creationId xmlns:a16="http://schemas.microsoft.com/office/drawing/2014/main" id="{EE5AE0D5-7990-6CA7-4F09-08EE61B22D84}"/>
              </a:ext>
            </a:extLst>
          </p:cNvPr>
          <p:cNvPicPr>
            <a:picLocks noChangeAspect="1"/>
          </p:cNvPicPr>
          <p:nvPr/>
        </p:nvPicPr>
        <p:blipFill>
          <a:blip r:embed="rId3"/>
          <a:stretch>
            <a:fillRect/>
          </a:stretch>
        </p:blipFill>
        <p:spPr>
          <a:xfrm>
            <a:off x="365760" y="1256929"/>
            <a:ext cx="8412480" cy="2198361"/>
          </a:xfrm>
          <a:prstGeom prst="rect">
            <a:avLst/>
          </a:prstGeom>
        </p:spPr>
      </p:pic>
      <p:sp>
        <p:nvSpPr>
          <p:cNvPr id="10" name="PLMInsight">
            <a:extLst>
              <a:ext uri="{FF2B5EF4-FFF2-40B4-BE49-F238E27FC236}">
                <a16:creationId xmlns:a16="http://schemas.microsoft.com/office/drawing/2014/main" id="{583B72AD-F9A5-8B0B-CDFD-0AEF6BF3C4C5}"/>
              </a:ext>
            </a:extLst>
          </p:cNvPr>
          <p:cNvSpPr/>
          <p:nvPr/>
        </p:nvSpPr>
        <p:spPr>
          <a:xfrm>
            <a:off x="685800" y="3624580"/>
            <a:ext cx="7772400" cy="782528"/>
          </a:xfrm>
          <a:prstGeom prst="rect">
            <a:avLst/>
          </a:prstGeom>
          <a:noFill/>
          <a:ln>
            <a:noFill/>
          </a:ln>
        </p:spPr>
        <p:txBody>
          <a:bodyPr wrap="square" lIns="0" tIns="0" rIns="0" bIns="0" anchor="t"/>
          <a:lstStyle/>
          <a:p>
            <a:pPr marL="0" indent="0" algn="ctr">
              <a:buNone/>
            </a:pPr>
            <a:r>
              <a:rPr lang="en-US" sz="2000" i="1" dirty="0">
                <a:solidFill>
                  <a:srgbClr val="AAAAAA"/>
                </a:solidFill>
                <a:latin typeface="Calibri" pitchFamily="34" charset="0"/>
                <a:ea typeface="Calibri" pitchFamily="34" charset="-122"/>
                <a:cs typeface="Calibri" pitchFamily="34" charset="-120"/>
              </a:rPr>
              <a:t>“Just the facts, ma’am.” – The Joe Friday approach to narrative.</a:t>
            </a:r>
          </a:p>
          <a:p>
            <a:pPr marL="0" indent="0" algn="ctr">
              <a:buNone/>
            </a:pPr>
            <a:r>
              <a:rPr lang="en-US" sz="2000" i="1" dirty="0">
                <a:solidFill>
                  <a:srgbClr val="AAAAAA"/>
                </a:solidFill>
                <a:latin typeface="Calibri" pitchFamily="34" charset="0"/>
                <a:ea typeface="Calibri" pitchFamily="34" charset="-122"/>
                <a:cs typeface="Calibri" pitchFamily="34" charset="-120"/>
              </a:rPr>
              <a:t>Combined with the Wikipedia article “</a:t>
            </a:r>
            <a:r>
              <a:rPr lang="en-US" sz="2000" i="1" dirty="0">
                <a:solidFill>
                  <a:srgbClr val="AAAAAA"/>
                </a:solidFill>
                <a:latin typeface="Calibri" pitchFamily="34" charset="0"/>
                <a:ea typeface="Calibri" pitchFamily="34" charset="-122"/>
                <a:cs typeface="Calibri" pitchFamily="34" charset="-120"/>
                <a:hlinkClick r:id="rId4"/>
              </a:rPr>
              <a:t>Signs of AI writing</a:t>
            </a:r>
            <a:r>
              <a:rPr lang="en-US" sz="2000" i="1" dirty="0">
                <a:solidFill>
                  <a:srgbClr val="AAAAAA"/>
                </a:solidFill>
                <a:latin typeface="Calibri" pitchFamily="34" charset="0"/>
                <a:ea typeface="Calibri" pitchFamily="34" charset="-122"/>
                <a:cs typeface="Calibri" pitchFamily="34" charset="-120"/>
              </a:rPr>
              <a:t>” (for editing).</a:t>
            </a:r>
          </a:p>
        </p:txBody>
      </p:sp>
    </p:spTree>
    <p:extLst>
      <p:ext uri="{BB962C8B-B14F-4D97-AF65-F5344CB8AC3E}">
        <p14:creationId xmlns:p14="http://schemas.microsoft.com/office/powerpoint/2010/main" val="2480748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The solution</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buNone/>
            </a:pPr>
            <a:r>
              <a:rPr lang="en-US" sz="1100" dirty="0">
                <a:solidFill>
                  <a:srgbClr val="AAAAAA"/>
                </a:solidFill>
                <a:latin typeface="Calibri" pitchFamily="34" charset="0"/>
              </a:rPr>
              <a:t>4</a:t>
            </a:r>
          </a:p>
        </p:txBody>
      </p:sp>
      <p:sp>
        <p:nvSpPr>
          <p:cNvPr id="20" name="Subtitle"/>
          <p:cNvSpPr/>
          <p:nvPr/>
        </p:nvSpPr>
        <p:spPr>
          <a:xfrm>
            <a:off x="635000" y="1143000"/>
            <a:ext cx="7861300" cy="381000"/>
          </a:xfrm>
          <a:prstGeom prst="rect">
            <a:avLst/>
          </a:prstGeom>
          <a:noFill/>
          <a:ln>
            <a:noFill/>
          </a:ln>
        </p:spPr>
        <p:txBody>
          <a:bodyPr wrap="square" lIns="0" tIns="0" rIns="0" bIns="0" anchor="t"/>
          <a:lstStyle/>
          <a:p>
            <a:pPr marL="0" indent="0">
              <a:buNone/>
            </a:pPr>
            <a:r>
              <a:rPr lang="en-US" sz="1800" dirty="0">
                <a:solidFill>
                  <a:srgbClr val="F0EDE6"/>
                </a:solidFill>
                <a:latin typeface="Georgia" pitchFamily="34" charset="0"/>
                <a:ea typeface="Georgia" pitchFamily="34" charset="-122"/>
                <a:cs typeface="Georgia" pitchFamily="34" charset="-120"/>
              </a:rPr>
              <a:t>Collaborative Reasoning (CR) in Claude Code with Persona Agents </a:t>
            </a:r>
          </a:p>
        </p:txBody>
      </p:sp>
      <p:sp>
        <p:nvSpPr>
          <p:cNvPr id="31" name="CardBg CR Agents"/>
          <p:cNvSpPr/>
          <p:nvPr/>
        </p:nvSpPr>
        <p:spPr>
          <a:xfrm>
            <a:off x="635000" y="1714500"/>
            <a:ext cx="3746500" cy="1524000"/>
          </a:xfrm>
          <a:prstGeom prst="roundRect">
            <a:avLst>
              <a:gd name="adj" fmla="val 5000"/>
            </a:avLst>
          </a:prstGeom>
          <a:solidFill>
            <a:srgbClr val="1E1E1E"/>
          </a:solidFill>
          <a:ln w="6350">
            <a:solidFill>
              <a:srgbClr val="3A3530"/>
            </a:solidFill>
          </a:ln>
        </p:spPr>
        <p:txBody>
          <a:bodyPr wrap="square" lIns="0" tIns="0" rIns="0" bIns="0"/>
          <a:lstStyle/>
          <a:p>
            <a:endParaRPr lang="en-US"/>
          </a:p>
        </p:txBody>
      </p:sp>
      <p:sp>
        <p:nvSpPr>
          <p:cNvPr id="32" name="Bar CR Agents"/>
          <p:cNvSpPr/>
          <p:nvPr/>
        </p:nvSpPr>
        <p:spPr>
          <a:xfrm>
            <a:off x="635000" y="1816100"/>
            <a:ext cx="50800" cy="1320800"/>
          </a:xfrm>
          <a:prstGeom prst="roundRect">
            <a:avLst>
              <a:gd name="adj" fmla="val 50000"/>
            </a:avLst>
          </a:prstGeom>
          <a:solidFill>
            <a:srgbClr val="C87941"/>
          </a:solidFill>
          <a:ln>
            <a:noFill/>
          </a:ln>
        </p:spPr>
        <p:txBody>
          <a:bodyPr wrap="square" lIns="0" tIns="0" rIns="0" bIns="0"/>
          <a:lstStyle/>
          <a:p>
            <a:endParaRPr lang="en-US"/>
          </a:p>
        </p:txBody>
      </p:sp>
      <p:sp>
        <p:nvSpPr>
          <p:cNvPr id="30" name="Text CR Agents"/>
          <p:cNvSpPr/>
          <p:nvPr/>
        </p:nvSpPr>
        <p:spPr>
          <a:xfrm>
            <a:off x="863600" y="1866900"/>
            <a:ext cx="3365500" cy="1219200"/>
          </a:xfrm>
          <a:prstGeom prst="rect">
            <a:avLst/>
          </a:prstGeom>
          <a:noFill/>
          <a:ln>
            <a:noFill/>
          </a:ln>
        </p:spPr>
        <p:txBody>
          <a:bodyPr wrap="square" lIns="0" tIns="0" rIns="0" bIns="0" anchor="t"/>
          <a:lstStyle/>
          <a:p>
            <a:pPr marL="0" indent="0">
              <a:spcAft>
                <a:spcPts val="400"/>
              </a:spcAft>
              <a:buNone/>
            </a:pPr>
            <a:r>
              <a:rPr lang="en-US" sz="2000" b="1" dirty="0">
                <a:solidFill>
                  <a:srgbClr val="C87941"/>
                </a:solidFill>
                <a:latin typeface="Calibri" pitchFamily="34" charset="0"/>
                <a:ea typeface="Calibri" pitchFamily="34" charset="-122"/>
                <a:cs typeface="Calibri" pitchFamily="34" charset="-120"/>
              </a:rPr>
              <a:t>Collaborative Reasoning Agents</a:t>
            </a:r>
          </a:p>
          <a:p>
            <a:pPr marL="0" indent="0">
              <a:spcAft>
                <a:spcPts val="300"/>
              </a:spcAft>
              <a:buNone/>
            </a:pPr>
            <a:r>
              <a:rPr lang="en-US" sz="1400" dirty="0">
                <a:solidFill>
                  <a:srgbClr val="D4CFC7"/>
                </a:solidFill>
                <a:latin typeface="Calibri" pitchFamily="34" charset="0"/>
                <a:ea typeface="Calibri" pitchFamily="34" charset="-122"/>
                <a:cs typeface="Calibri" pitchFamily="34" charset="-120"/>
              </a:rPr>
              <a:t>Named expert team with distinct roles and an orchestrator. Each specialist gets a clean context window with deep domain-specific instructions.</a:t>
            </a:r>
          </a:p>
        </p:txBody>
      </p:sp>
      <p:sp>
        <p:nvSpPr>
          <p:cNvPr id="41" name="CardBg Test-Driven Docs"/>
          <p:cNvSpPr/>
          <p:nvPr/>
        </p:nvSpPr>
        <p:spPr>
          <a:xfrm>
            <a:off x="4762500" y="1714500"/>
            <a:ext cx="3746500" cy="1524000"/>
          </a:xfrm>
          <a:prstGeom prst="roundRect">
            <a:avLst>
              <a:gd name="adj" fmla="val 5000"/>
            </a:avLst>
          </a:prstGeom>
          <a:solidFill>
            <a:srgbClr val="1E1E1E"/>
          </a:solidFill>
          <a:ln w="6350">
            <a:solidFill>
              <a:srgbClr val="3A3530"/>
            </a:solidFill>
          </a:ln>
        </p:spPr>
        <p:txBody>
          <a:bodyPr wrap="square" lIns="0" tIns="0" rIns="0" bIns="0"/>
          <a:lstStyle/>
          <a:p>
            <a:endParaRPr lang="en-US"/>
          </a:p>
        </p:txBody>
      </p:sp>
      <p:sp>
        <p:nvSpPr>
          <p:cNvPr id="42" name="Bar Test-Driven Docs"/>
          <p:cNvSpPr/>
          <p:nvPr/>
        </p:nvSpPr>
        <p:spPr>
          <a:xfrm>
            <a:off x="4762500" y="1816100"/>
            <a:ext cx="50800" cy="1320800"/>
          </a:xfrm>
          <a:prstGeom prst="roundRect">
            <a:avLst>
              <a:gd name="adj" fmla="val 50000"/>
            </a:avLst>
          </a:prstGeom>
          <a:solidFill>
            <a:srgbClr val="C87941"/>
          </a:solidFill>
          <a:ln>
            <a:noFill/>
          </a:ln>
        </p:spPr>
        <p:txBody>
          <a:bodyPr wrap="square" lIns="0" tIns="0" rIns="0" bIns="0"/>
          <a:lstStyle/>
          <a:p>
            <a:endParaRPr lang="en-US"/>
          </a:p>
        </p:txBody>
      </p:sp>
      <p:sp>
        <p:nvSpPr>
          <p:cNvPr id="40" name="Text Test-Driven Docs"/>
          <p:cNvSpPr/>
          <p:nvPr/>
        </p:nvSpPr>
        <p:spPr>
          <a:xfrm>
            <a:off x="4991100" y="1866900"/>
            <a:ext cx="3365500" cy="1219200"/>
          </a:xfrm>
          <a:prstGeom prst="rect">
            <a:avLst/>
          </a:prstGeom>
          <a:noFill/>
          <a:ln>
            <a:noFill/>
          </a:ln>
        </p:spPr>
        <p:txBody>
          <a:bodyPr wrap="square" lIns="0" tIns="0" rIns="0" bIns="0" anchor="t"/>
          <a:lstStyle/>
          <a:p>
            <a:pPr marL="0" indent="0">
              <a:spcAft>
                <a:spcPts val="400"/>
              </a:spcAft>
              <a:buNone/>
            </a:pPr>
            <a:r>
              <a:rPr lang="en-US" sz="2000" b="1" dirty="0">
                <a:solidFill>
                  <a:srgbClr val="C87941"/>
                </a:solidFill>
                <a:latin typeface="Calibri" pitchFamily="34" charset="0"/>
                <a:ea typeface="Calibri" pitchFamily="34" charset="-122"/>
                <a:cs typeface="Calibri" pitchFamily="34" charset="-120"/>
              </a:rPr>
              <a:t>Test-Driven Documentation</a:t>
            </a:r>
          </a:p>
          <a:p>
            <a:pPr marL="0" indent="0">
              <a:spcAft>
                <a:spcPts val="300"/>
              </a:spcAft>
              <a:buNone/>
            </a:pPr>
            <a:r>
              <a:rPr lang="en-US" sz="1400" dirty="0">
                <a:solidFill>
                  <a:srgbClr val="D4CFC7"/>
                </a:solidFill>
                <a:latin typeface="Calibri" pitchFamily="34" charset="0"/>
                <a:ea typeface="Calibri" pitchFamily="34" charset="-122"/>
                <a:cs typeface="Calibri" pitchFamily="34" charset="-120"/>
              </a:rPr>
              <a:t>Define acceptance criteria before building. Every deliverable is validated against a test suite. This becomes the contract between human intent and AI output.</a:t>
            </a:r>
          </a:p>
        </p:txBody>
      </p:sp>
      <p:sp>
        <p:nvSpPr>
          <p:cNvPr id="51" name="CardBg LLM-PLM"/>
          <p:cNvSpPr/>
          <p:nvPr/>
        </p:nvSpPr>
        <p:spPr>
          <a:xfrm>
            <a:off x="635000" y="3403600"/>
            <a:ext cx="3746500" cy="1524000"/>
          </a:xfrm>
          <a:prstGeom prst="roundRect">
            <a:avLst>
              <a:gd name="adj" fmla="val 5000"/>
            </a:avLst>
          </a:prstGeom>
          <a:solidFill>
            <a:srgbClr val="1E1E1E"/>
          </a:solidFill>
          <a:ln w="6350">
            <a:solidFill>
              <a:srgbClr val="3A3530"/>
            </a:solidFill>
          </a:ln>
        </p:spPr>
        <p:txBody>
          <a:bodyPr wrap="square" lIns="0" tIns="0" rIns="0" bIns="0"/>
          <a:lstStyle/>
          <a:p>
            <a:endParaRPr lang="en-US"/>
          </a:p>
        </p:txBody>
      </p:sp>
      <p:sp>
        <p:nvSpPr>
          <p:cNvPr id="52" name="Bar LLM-PLM"/>
          <p:cNvSpPr/>
          <p:nvPr/>
        </p:nvSpPr>
        <p:spPr>
          <a:xfrm>
            <a:off x="635000" y="3505200"/>
            <a:ext cx="50800" cy="1320800"/>
          </a:xfrm>
          <a:prstGeom prst="roundRect">
            <a:avLst>
              <a:gd name="adj" fmla="val 50000"/>
            </a:avLst>
          </a:prstGeom>
          <a:solidFill>
            <a:srgbClr val="C87941"/>
          </a:solidFill>
          <a:ln>
            <a:noFill/>
          </a:ln>
        </p:spPr>
        <p:txBody>
          <a:bodyPr wrap="square" lIns="0" tIns="0" rIns="0" bIns="0"/>
          <a:lstStyle/>
          <a:p>
            <a:endParaRPr lang="en-US"/>
          </a:p>
        </p:txBody>
      </p:sp>
      <p:sp>
        <p:nvSpPr>
          <p:cNvPr id="50" name="Text LLM-PLM"/>
          <p:cNvSpPr/>
          <p:nvPr/>
        </p:nvSpPr>
        <p:spPr>
          <a:xfrm>
            <a:off x="863600" y="3556000"/>
            <a:ext cx="3365500" cy="1219200"/>
          </a:xfrm>
          <a:prstGeom prst="rect">
            <a:avLst/>
          </a:prstGeom>
          <a:noFill/>
          <a:ln>
            <a:noFill/>
          </a:ln>
        </p:spPr>
        <p:txBody>
          <a:bodyPr wrap="square" lIns="0" tIns="0" rIns="0" bIns="0" anchor="t"/>
          <a:lstStyle/>
          <a:p>
            <a:pPr marL="0" indent="0">
              <a:spcAft>
                <a:spcPts val="400"/>
              </a:spcAft>
              <a:buNone/>
            </a:pPr>
            <a:r>
              <a:rPr lang="en-US" sz="2000" b="1" dirty="0">
                <a:solidFill>
                  <a:srgbClr val="C87941"/>
                </a:solidFill>
                <a:latin typeface="Calibri" pitchFamily="34" charset="0"/>
                <a:ea typeface="Calibri" pitchFamily="34" charset="-122"/>
                <a:cs typeface="Calibri" pitchFamily="34" charset="-120"/>
              </a:rPr>
              <a:t>LLM-PLM</a:t>
            </a:r>
          </a:p>
          <a:p>
            <a:pPr marL="0" indent="0">
              <a:spcAft>
                <a:spcPts val="300"/>
              </a:spcAft>
              <a:buNone/>
            </a:pPr>
            <a:r>
              <a:rPr lang="en-US" sz="1400" dirty="0">
                <a:solidFill>
                  <a:srgbClr val="D4CFC7"/>
                </a:solidFill>
                <a:latin typeface="Calibri" pitchFamily="34" charset="0"/>
                <a:ea typeface="Calibri" pitchFamily="34" charset="-122"/>
                <a:cs typeface="Calibri" pitchFamily="34" charset="-120"/>
              </a:rPr>
              <a:t>The LLM manages a full product lifecycle. Parametric design files, per-part scripts, and STEP export. Basically, CAD without a GUI.</a:t>
            </a:r>
          </a:p>
        </p:txBody>
      </p:sp>
      <p:sp>
        <p:nvSpPr>
          <p:cNvPr id="61" name="CardBg Skills"/>
          <p:cNvSpPr/>
          <p:nvPr/>
        </p:nvSpPr>
        <p:spPr>
          <a:xfrm>
            <a:off x="4762500" y="3403600"/>
            <a:ext cx="3746500" cy="1524000"/>
          </a:xfrm>
          <a:prstGeom prst="roundRect">
            <a:avLst>
              <a:gd name="adj" fmla="val 5000"/>
            </a:avLst>
          </a:prstGeom>
          <a:solidFill>
            <a:srgbClr val="1E1E1E"/>
          </a:solidFill>
          <a:ln w="6350">
            <a:solidFill>
              <a:srgbClr val="3A3530"/>
            </a:solidFill>
          </a:ln>
        </p:spPr>
        <p:txBody>
          <a:bodyPr wrap="square" lIns="0" tIns="0" rIns="0" bIns="0"/>
          <a:lstStyle/>
          <a:p>
            <a:endParaRPr lang="en-US"/>
          </a:p>
        </p:txBody>
      </p:sp>
      <p:sp>
        <p:nvSpPr>
          <p:cNvPr id="62" name="Bar Skills"/>
          <p:cNvSpPr/>
          <p:nvPr/>
        </p:nvSpPr>
        <p:spPr>
          <a:xfrm>
            <a:off x="4762500" y="3505200"/>
            <a:ext cx="50800" cy="1320800"/>
          </a:xfrm>
          <a:prstGeom prst="roundRect">
            <a:avLst>
              <a:gd name="adj" fmla="val 50000"/>
            </a:avLst>
          </a:prstGeom>
          <a:solidFill>
            <a:srgbClr val="C87941"/>
          </a:solidFill>
          <a:ln>
            <a:noFill/>
          </a:ln>
        </p:spPr>
        <p:txBody>
          <a:bodyPr wrap="square" lIns="0" tIns="0" rIns="0" bIns="0"/>
          <a:lstStyle/>
          <a:p>
            <a:endParaRPr lang="en-US"/>
          </a:p>
        </p:txBody>
      </p:sp>
      <p:sp>
        <p:nvSpPr>
          <p:cNvPr id="60" name="Text Skills"/>
          <p:cNvSpPr/>
          <p:nvPr/>
        </p:nvSpPr>
        <p:spPr>
          <a:xfrm>
            <a:off x="4991100" y="3556000"/>
            <a:ext cx="3365500" cy="1219200"/>
          </a:xfrm>
          <a:prstGeom prst="rect">
            <a:avLst/>
          </a:prstGeom>
          <a:noFill/>
          <a:ln>
            <a:noFill/>
          </a:ln>
        </p:spPr>
        <p:txBody>
          <a:bodyPr wrap="square" lIns="0" tIns="0" rIns="0" bIns="0" anchor="t"/>
          <a:lstStyle/>
          <a:p>
            <a:pPr marL="0" indent="0">
              <a:spcAft>
                <a:spcPts val="400"/>
              </a:spcAft>
              <a:buNone/>
            </a:pPr>
            <a:r>
              <a:rPr lang="en-US" sz="2000" b="1" dirty="0">
                <a:solidFill>
                  <a:srgbClr val="C87941"/>
                </a:solidFill>
                <a:latin typeface="Calibri" pitchFamily="34" charset="0"/>
                <a:ea typeface="Calibri" pitchFamily="34" charset="-122"/>
                <a:cs typeface="Calibri" pitchFamily="34" charset="-120"/>
              </a:rPr>
              <a:t>Skills</a:t>
            </a:r>
          </a:p>
          <a:p>
            <a:pPr marL="0" indent="0">
              <a:spcAft>
                <a:spcPts val="300"/>
              </a:spcAft>
              <a:buNone/>
            </a:pPr>
            <a:r>
              <a:rPr lang="en-US" sz="1400" dirty="0">
                <a:solidFill>
                  <a:srgbClr val="D4CFC7"/>
                </a:solidFill>
                <a:latin typeface="Calibri" pitchFamily="34" charset="0"/>
                <a:ea typeface="Calibri" pitchFamily="34" charset="-122"/>
                <a:cs typeface="Calibri" pitchFamily="34" charset="-120"/>
              </a:rPr>
              <a:t>Prompt modules pulled from Claude on the web to “skill-up” Claude code. Each skill carries its own instructions, test cases, and evaluation criteria. Activated by prompt0.md.</a:t>
            </a:r>
          </a:p>
        </p:txBody>
      </p:sp>
    </p:spTree>
    <p:extLst>
      <p:ext uri="{BB962C8B-B14F-4D97-AF65-F5344CB8AC3E}">
        <p14:creationId xmlns:p14="http://schemas.microsoft.com/office/powerpoint/2010/main" val="1194608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What's in the box</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2</a:t>
            </a:r>
            <a:endParaRPr lang="en-US" sz="1000" dirty="0"/>
          </a:p>
        </p:txBody>
      </p:sp>
      <p:pic>
        <p:nvPicPr>
          <p:cNvPr id="5" name="Image 0" descr="preencoded.png"/>
          <p:cNvPicPr>
            <a:picLocks noChangeAspect="1"/>
          </p:cNvPicPr>
          <p:nvPr/>
        </p:nvPicPr>
        <p:blipFill>
          <a:blip r:embed="rId3"/>
          <a:stretch>
            <a:fillRect/>
          </a:stretch>
        </p:blipFill>
        <p:spPr>
          <a:xfrm>
            <a:off x="640080" y="1234440"/>
            <a:ext cx="320040" cy="320040"/>
          </a:xfrm>
          <a:prstGeom prst="rect">
            <a:avLst/>
          </a:prstGeom>
        </p:spPr>
      </p:pic>
      <p:sp>
        <p:nvSpPr>
          <p:cNvPr id="6" name="Text 3"/>
          <p:cNvSpPr/>
          <p:nvPr/>
        </p:nvSpPr>
        <p:spPr>
          <a:xfrm>
            <a:off x="1051560" y="1188720"/>
            <a:ext cx="3657600" cy="365760"/>
          </a:xfrm>
          <a:prstGeom prst="rect">
            <a:avLst/>
          </a:prstGeom>
          <a:noFill/>
          <a:ln/>
        </p:spPr>
        <p:txBody>
          <a:bodyPr wrap="square" lIns="0" tIns="0" rIns="0" bIns="0" rtlCol="0" anchor="ctr"/>
          <a:lstStyle/>
          <a:p>
            <a:pPr marL="0" indent="0">
              <a:buNone/>
            </a:pPr>
            <a:r>
              <a:rPr lang="en-US" sz="1400" b="1" dirty="0">
                <a:solidFill>
                  <a:srgbClr val="C87941"/>
                </a:solidFill>
                <a:latin typeface="Calibri" pitchFamily="34" charset="0"/>
                <a:ea typeface="Calibri" pitchFamily="34" charset="-122"/>
                <a:cs typeface="Calibri" pitchFamily="34" charset="-120"/>
              </a:rPr>
              <a:t>CR_Agents_Toolkit/</a:t>
            </a:r>
            <a:endParaRPr lang="en-US" sz="1400" dirty="0"/>
          </a:p>
        </p:txBody>
      </p:sp>
      <p:sp>
        <p:nvSpPr>
          <p:cNvPr id="7" name="Shape 4"/>
          <p:cNvSpPr/>
          <p:nvPr/>
        </p:nvSpPr>
        <p:spPr>
          <a:xfrm>
            <a:off x="2845884" y="1115568"/>
            <a:ext cx="5658036" cy="3730752"/>
          </a:xfrm>
          <a:prstGeom prst="rect">
            <a:avLst/>
          </a:prstGeom>
          <a:solidFill>
            <a:srgbClr val="1E1C18"/>
          </a:solidFill>
          <a:ln/>
        </p:spPr>
        <p:txBody>
          <a:bodyPr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0EDE6"/>
                </a:solidFill>
                <a:effectLst/>
                <a:uLnTx/>
                <a:uFillTx/>
                <a:latin typeface="Consolas" pitchFamily="34" charset="0"/>
                <a:ea typeface="Consolas" pitchFamily="34" charset="-122"/>
                <a:cs typeface="Consolas" pitchFamily="34" charset="-120"/>
              </a:rPr>
              <a:t>CLAUDE.md                    Claude Code reads this first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0EDE6"/>
                </a:solidFill>
                <a:effectLst/>
                <a:uLnTx/>
                <a:uFillTx/>
                <a:latin typeface="Consolas" pitchFamily="34" charset="0"/>
                <a:ea typeface="Consolas" pitchFamily="34" charset="-122"/>
                <a:cs typeface="Consolas" pitchFamily="34" charset="-120"/>
              </a:rPr>
              <a:t>README.md                    Human overview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0EDE6"/>
                </a:solidFill>
                <a:effectLst/>
                <a:uLnTx/>
                <a:uFillTx/>
                <a:latin typeface="Consolas" pitchFamily="34" charset="0"/>
                <a:ea typeface="Consolas" pitchFamily="34" charset="-122"/>
                <a:cs typeface="Consolas" pitchFamily="34" charset="-120"/>
              </a:rPr>
              <a:t>prompt0.md                   Skills and self-checks</a:t>
            </a:r>
          </a:p>
          <a:p>
            <a:pPr marL="0" marR="0" lvl="0" indent="0" algn="l" defTabSz="914400" rtl="0" eaLnBrk="1" fontAlgn="auto" latinLnBrk="0" hangingPunct="1">
              <a:lnSpc>
                <a:spcPct val="10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0EDE6"/>
                </a:solidFill>
                <a:effectLst/>
                <a:uLnTx/>
                <a:uFillTx/>
                <a:latin typeface="Consolas" pitchFamily="34" charset="0"/>
                <a:ea typeface="Consolas" pitchFamily="34" charset="-122"/>
                <a:cs typeface="Consolas" pitchFamily="34" charset="-120"/>
              </a:rPr>
              <a:t>method/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operational_guide.md       How to run the method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technical_note.md          Architecture and rationale (deeper dive)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tdd_method.md              Test-driven documentation writing method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0EDE6"/>
                </a:solidFill>
                <a:effectLst/>
                <a:uLnTx/>
                <a:uFillTx/>
                <a:latin typeface="Consolas" pitchFamily="34" charset="0"/>
                <a:ea typeface="Consolas" pitchFamily="34" charset="-122"/>
                <a:cs typeface="Consolas" pitchFamily="34" charset="-120"/>
              </a:rPr>
              <a:t>supplements/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llm_plm_cad.md             CAD/geometry lifecycle managed by the LLM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signs_of_ai_writing.md     7-category AI-writing-detection framework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freecad_api_reference.md   </a:t>
            </a:r>
            <a:r>
              <a:rPr kumimoji="0" lang="en-US" sz="1100" b="0" i="0" u="none" strike="noStrike" kern="1200" cap="none" spc="0" normalizeH="0" baseline="0" noProof="0" dirty="0" err="1">
                <a:ln>
                  <a:noFill/>
                </a:ln>
                <a:solidFill>
                  <a:srgbClr val="AAAAAA"/>
                </a:solidFill>
                <a:effectLst/>
                <a:uLnTx/>
                <a:uFillTx/>
                <a:latin typeface="Consolas" pitchFamily="34" charset="0"/>
                <a:ea typeface="Consolas" pitchFamily="34" charset="-122"/>
                <a:cs typeface="Consolas" pitchFamily="34" charset="-120"/>
              </a:rPr>
              <a:t>FreeCAD</a:t>
            </a: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scripting reference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0EDE6"/>
                </a:solidFill>
                <a:effectLst/>
                <a:uLnTx/>
                <a:uFillTx/>
                <a:latin typeface="Consolas" pitchFamily="34" charset="0"/>
                <a:ea typeface="Consolas" pitchFamily="34" charset="-122"/>
                <a:cs typeface="Consolas" pitchFamily="34" charset="-120"/>
              </a:rPr>
              <a:t>templates/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accumulator.md             Blank per-persona history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gameplan.md                Blank session plan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AAAAAA"/>
                </a:solidFill>
                <a:effectLst/>
                <a:uLnTx/>
                <a:uFillTx/>
                <a:latin typeface="Consolas" pitchFamily="34" charset="0"/>
                <a:ea typeface="Consolas" pitchFamily="34" charset="-122"/>
                <a:cs typeface="Consolas" pitchFamily="34" charset="-120"/>
              </a:rPr>
              <a:t>  work_order_drafter.md      Prompt for drafting work orders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F0EDE6"/>
                </a:solidFill>
                <a:effectLst/>
                <a:uLnTx/>
                <a:uFillTx/>
                <a:latin typeface="Consolas" pitchFamily="34" charset="0"/>
                <a:ea typeface="Consolas" pitchFamily="34" charset="-122"/>
                <a:cs typeface="Consolas" pitchFamily="34" charset="-120"/>
              </a:rPr>
              <a:t>claude</a:t>
            </a:r>
            <a:r>
              <a:rPr kumimoji="0" lang="en-US" sz="1100" b="0" i="0" u="none" strike="noStrike" kern="1200" cap="none" spc="0" normalizeH="0" baseline="0" noProof="0" dirty="0">
                <a:ln>
                  <a:noFill/>
                </a:ln>
                <a:solidFill>
                  <a:srgbClr val="F0EDE6"/>
                </a:solidFill>
                <a:effectLst/>
                <a:uLnTx/>
                <a:uFillTx/>
                <a:latin typeface="Consolas" pitchFamily="34" charset="0"/>
                <a:ea typeface="Consolas" pitchFamily="34" charset="-122"/>
                <a:cs typeface="Consolas" pitchFamily="34" charset="-120"/>
              </a:rPr>
              <a:t>-docx-bundle/          Document production toolkit (docx, pdf).</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1718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Named expert teams</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4</a:t>
            </a:r>
            <a:endParaRPr lang="en-US" sz="1000" dirty="0"/>
          </a:p>
        </p:txBody>
      </p:sp>
      <p:sp>
        <p:nvSpPr>
          <p:cNvPr id="5" name="Text 3"/>
          <p:cNvSpPr/>
          <p:nvPr/>
        </p:nvSpPr>
        <p:spPr>
          <a:xfrm>
            <a:off x="640080" y="1098916"/>
            <a:ext cx="7863840" cy="320040"/>
          </a:xfrm>
          <a:prstGeom prst="rect">
            <a:avLst/>
          </a:prstGeom>
          <a:noFill/>
          <a:ln/>
        </p:spPr>
        <p:txBody>
          <a:bodyPr wrap="square" lIns="0" tIns="0" rIns="0" bIns="0" rtlCol="0" anchor="ctr"/>
          <a:lstStyle/>
          <a:p>
            <a:pPr marL="0" indent="0">
              <a:buNone/>
            </a:pPr>
            <a:r>
              <a:rPr lang="en-US" sz="1600" i="1" dirty="0">
                <a:solidFill>
                  <a:srgbClr val="AAAAAA"/>
                </a:solidFill>
                <a:latin typeface="Calibri" pitchFamily="34" charset="0"/>
                <a:ea typeface="Calibri" pitchFamily="34" charset="-122"/>
                <a:cs typeface="Calibri" pitchFamily="34" charset="-120"/>
              </a:rPr>
              <a:t>Based on Nelson (2026), "</a:t>
            </a:r>
            <a:r>
              <a:rPr lang="en-US" sz="1600" i="1" dirty="0">
                <a:solidFill>
                  <a:srgbClr val="AAAAAA"/>
                </a:solidFill>
                <a:latin typeface="Calibri" pitchFamily="34" charset="0"/>
                <a:ea typeface="Calibri" pitchFamily="34" charset="-122"/>
                <a:cs typeface="Calibri" pitchFamily="34" charset="-120"/>
                <a:hlinkClick r:id="rId3"/>
              </a:rPr>
              <a:t>Activating Expertise: Human-AI Teams for Collaborative Reasoning</a:t>
            </a:r>
            <a:r>
              <a:rPr lang="en-US" sz="1600" i="1" dirty="0">
                <a:solidFill>
                  <a:srgbClr val="AAAAAA"/>
                </a:solidFill>
                <a:latin typeface="Calibri" pitchFamily="34" charset="0"/>
                <a:ea typeface="Calibri" pitchFamily="34" charset="-122"/>
                <a:cs typeface="Calibri" pitchFamily="34" charset="-120"/>
              </a:rPr>
              <a:t>."</a:t>
            </a:r>
            <a:endParaRPr lang="en-US" sz="1600" dirty="0"/>
          </a:p>
        </p:txBody>
      </p:sp>
      <p:sp>
        <p:nvSpPr>
          <p:cNvPr id="6" name="Shape 4"/>
          <p:cNvSpPr/>
          <p:nvPr/>
        </p:nvSpPr>
        <p:spPr>
          <a:xfrm>
            <a:off x="3238500" y="2476500"/>
            <a:ext cx="2667000" cy="1143000"/>
          </a:xfrm>
          <a:prstGeom prst="rect">
            <a:avLst/>
          </a:prstGeom>
          <a:solidFill>
            <a:srgbClr val="C87941"/>
          </a:solidFill>
          <a:ln/>
        </p:spPr>
        <p:txBody>
          <a:bodyPr/>
          <a:lstStyle/>
          <a:p>
            <a:endParaRPr lang="en-US"/>
          </a:p>
        </p:txBody>
      </p:sp>
      <p:sp>
        <p:nvSpPr>
          <p:cNvPr id="7" name="Text 5"/>
          <p:cNvSpPr/>
          <p:nvPr/>
        </p:nvSpPr>
        <p:spPr>
          <a:xfrm>
            <a:off x="3238500" y="2476500"/>
            <a:ext cx="2667000" cy="1143000"/>
          </a:xfrm>
          <a:prstGeom prst="rect">
            <a:avLst/>
          </a:prstGeom>
          <a:noFill/>
          <a:ln/>
        </p:spPr>
        <p:txBody>
          <a:bodyPr wrap="square" rtlCol="0" anchor="ctr"/>
          <a:lstStyle/>
          <a:p>
            <a:pPr marL="0" indent="0" algn="ctr">
              <a:lnSpc>
                <a:spcPct val="110000"/>
              </a:lnSpc>
              <a:buNone/>
            </a:pPr>
            <a:r>
              <a:rPr lang="en-US" sz="1800" b="1" dirty="0">
                <a:solidFill>
                  <a:srgbClr val="121212"/>
                </a:solidFill>
                <a:latin typeface="Calibri" pitchFamily="34" charset="0"/>
                <a:ea typeface="Calibri" pitchFamily="34" charset="-122"/>
                <a:cs typeface="Calibri" pitchFamily="34" charset="-120"/>
              </a:rPr>
              <a:t>Orchestrator</a:t>
            </a:r>
          </a:p>
          <a:p>
            <a:pPr marL="0" indent="0" algn="ctr">
              <a:lnSpc>
                <a:spcPct val="100000"/>
              </a:lnSpc>
              <a:spcBef>
                <a:spcPts val="200"/>
              </a:spcBef>
              <a:buNone/>
            </a:pPr>
            <a:r>
              <a:rPr lang="en-US" sz="1400" dirty="0">
                <a:solidFill>
                  <a:srgbClr val="3D3D3D"/>
                </a:solidFill>
                <a:latin typeface="Calibri" pitchFamily="34" charset="0"/>
                <a:ea typeface="Calibri" pitchFamily="34" charset="-122"/>
                <a:cs typeface="Calibri" pitchFamily="34" charset="-120"/>
              </a:rPr>
              <a:t>Claude Code main session</a:t>
            </a:r>
          </a:p>
        </p:txBody>
      </p:sp>
      <p:sp>
        <p:nvSpPr>
          <p:cNvPr id="8" name="Shape 6"/>
          <p:cNvSpPr/>
          <p:nvPr/>
        </p:nvSpPr>
        <p:spPr>
          <a:xfrm>
            <a:off x="508000" y="1587500"/>
            <a:ext cx="2159000" cy="889000"/>
          </a:xfrm>
          <a:prstGeom prst="rect">
            <a:avLst/>
          </a:prstGeom>
          <a:solidFill>
            <a:srgbClr val="1A1917"/>
          </a:solidFill>
          <a:ln w="6350">
            <a:solidFill>
              <a:srgbClr val="2A2826"/>
            </a:solidFill>
            <a:prstDash val="solid"/>
          </a:ln>
        </p:spPr>
        <p:txBody>
          <a:bodyPr/>
          <a:lstStyle/>
          <a:p>
            <a:endParaRPr lang="en-US"/>
          </a:p>
        </p:txBody>
      </p:sp>
      <p:sp>
        <p:nvSpPr>
          <p:cNvPr id="9" name="Text 7"/>
          <p:cNvSpPr/>
          <p:nvPr/>
        </p:nvSpPr>
        <p:spPr>
          <a:xfrm>
            <a:off x="508000" y="1587500"/>
            <a:ext cx="2159000" cy="889000"/>
          </a:xfrm>
          <a:prstGeom prst="rect">
            <a:avLst/>
          </a:prstGeom>
          <a:noFill/>
          <a:ln/>
        </p:spPr>
        <p:txBody>
          <a:bodyPr wrap="square" rtlCol="0" anchor="ctr"/>
          <a:lstStyle/>
          <a:p>
            <a:pPr marL="0" indent="0" algn="ctr">
              <a:lnSpc>
                <a:spcPct val="110000"/>
              </a:lnSpc>
              <a:buNone/>
            </a:pPr>
            <a:r>
              <a:rPr lang="en-US" sz="1600" b="1" dirty="0">
                <a:solidFill>
                  <a:srgbClr val="F0EDE6"/>
                </a:solidFill>
                <a:latin typeface="Calibri" pitchFamily="34" charset="0"/>
                <a:ea typeface="Calibri" pitchFamily="34" charset="-122"/>
                <a:cs typeface="Calibri" pitchFamily="34" charset="-120"/>
              </a:rPr>
              <a:t>The Manager</a:t>
            </a:r>
          </a:p>
          <a:p>
            <a:pPr marL="0" indent="0" algn="ctr">
              <a:lnSpc>
                <a:spcPct val="100000"/>
              </a:lnSpc>
              <a:spcBef>
                <a:spcPts val="200"/>
              </a:spcBef>
              <a:buNone/>
            </a:pPr>
            <a:r>
              <a:rPr lang="en-US" sz="1200" dirty="0">
                <a:solidFill>
                  <a:srgbClr val="AAAAAA"/>
                </a:solidFill>
                <a:latin typeface="Calibri" pitchFamily="34" charset="0"/>
                <a:ea typeface="Calibri" pitchFamily="34" charset="-122"/>
                <a:cs typeface="Calibri" pitchFamily="34" charset="-120"/>
              </a:rPr>
              <a:t>Scope and planning</a:t>
            </a:r>
          </a:p>
        </p:txBody>
      </p:sp>
      <p:sp>
        <p:nvSpPr>
          <p:cNvPr id="10" name="Shape 8"/>
          <p:cNvSpPr/>
          <p:nvPr/>
        </p:nvSpPr>
        <p:spPr>
          <a:xfrm>
            <a:off x="508000" y="2603500"/>
            <a:ext cx="2159000" cy="889000"/>
          </a:xfrm>
          <a:prstGeom prst="rect">
            <a:avLst/>
          </a:prstGeom>
          <a:solidFill>
            <a:srgbClr val="1A1917"/>
          </a:solidFill>
          <a:ln w="6350">
            <a:solidFill>
              <a:srgbClr val="2A2826"/>
            </a:solidFill>
            <a:prstDash val="solid"/>
          </a:ln>
        </p:spPr>
        <p:txBody>
          <a:bodyPr/>
          <a:lstStyle/>
          <a:p>
            <a:endParaRPr lang="en-US"/>
          </a:p>
        </p:txBody>
      </p:sp>
      <p:sp>
        <p:nvSpPr>
          <p:cNvPr id="11" name="Text 9"/>
          <p:cNvSpPr/>
          <p:nvPr/>
        </p:nvSpPr>
        <p:spPr>
          <a:xfrm>
            <a:off x="508000" y="2603500"/>
            <a:ext cx="2159000" cy="889000"/>
          </a:xfrm>
          <a:prstGeom prst="rect">
            <a:avLst/>
          </a:prstGeom>
          <a:noFill/>
          <a:ln/>
        </p:spPr>
        <p:txBody>
          <a:bodyPr wrap="square" rtlCol="0" anchor="ctr"/>
          <a:lstStyle/>
          <a:p>
            <a:pPr marL="0" indent="0" algn="ctr">
              <a:lnSpc>
                <a:spcPct val="110000"/>
              </a:lnSpc>
              <a:buNone/>
            </a:pPr>
            <a:r>
              <a:rPr lang="en-US" sz="1600" b="1" dirty="0">
                <a:solidFill>
                  <a:srgbClr val="F0EDE6"/>
                </a:solidFill>
                <a:latin typeface="Calibri" pitchFamily="34" charset="0"/>
                <a:ea typeface="Calibri" pitchFamily="34" charset="-122"/>
                <a:cs typeface="Calibri" pitchFamily="34" charset="-120"/>
              </a:rPr>
              <a:t>The Loftsman</a:t>
            </a:r>
          </a:p>
          <a:p>
            <a:pPr marL="0" indent="0" algn="ctr">
              <a:lnSpc>
                <a:spcPct val="100000"/>
              </a:lnSpc>
              <a:spcBef>
                <a:spcPts val="200"/>
              </a:spcBef>
              <a:buNone/>
            </a:pPr>
            <a:r>
              <a:rPr lang="en-US" sz="1200" dirty="0">
                <a:solidFill>
                  <a:srgbClr val="AAAAAA"/>
                </a:solidFill>
                <a:latin typeface="Calibri" pitchFamily="34" charset="0"/>
                <a:ea typeface="Calibri" pitchFamily="34" charset="-122"/>
                <a:cs typeface="Calibri" pitchFamily="34" charset="-120"/>
              </a:rPr>
              <a:t>Analytical geometry &amp; surfacing</a:t>
            </a:r>
          </a:p>
        </p:txBody>
      </p:sp>
      <p:sp>
        <p:nvSpPr>
          <p:cNvPr id="12" name="Shape 10"/>
          <p:cNvSpPr/>
          <p:nvPr/>
        </p:nvSpPr>
        <p:spPr>
          <a:xfrm>
            <a:off x="508000" y="3619500"/>
            <a:ext cx="2159000" cy="889000"/>
          </a:xfrm>
          <a:prstGeom prst="rect">
            <a:avLst/>
          </a:prstGeom>
          <a:solidFill>
            <a:srgbClr val="1A1917"/>
          </a:solidFill>
          <a:ln w="6350">
            <a:solidFill>
              <a:srgbClr val="2A2826"/>
            </a:solidFill>
            <a:prstDash val="solid"/>
          </a:ln>
        </p:spPr>
        <p:txBody>
          <a:bodyPr/>
          <a:lstStyle/>
          <a:p>
            <a:endParaRPr lang="en-US"/>
          </a:p>
        </p:txBody>
      </p:sp>
      <p:sp>
        <p:nvSpPr>
          <p:cNvPr id="13" name="Text 11"/>
          <p:cNvSpPr/>
          <p:nvPr/>
        </p:nvSpPr>
        <p:spPr>
          <a:xfrm>
            <a:off x="508000" y="3619500"/>
            <a:ext cx="2159000" cy="889000"/>
          </a:xfrm>
          <a:prstGeom prst="rect">
            <a:avLst/>
          </a:prstGeom>
          <a:noFill/>
          <a:ln/>
        </p:spPr>
        <p:txBody>
          <a:bodyPr wrap="square" rtlCol="0" anchor="ctr"/>
          <a:lstStyle/>
          <a:p>
            <a:pPr marL="0" indent="0" algn="ctr">
              <a:lnSpc>
                <a:spcPct val="110000"/>
              </a:lnSpc>
              <a:buNone/>
            </a:pPr>
            <a:r>
              <a:rPr lang="en-US" sz="1600" b="1" dirty="0">
                <a:solidFill>
                  <a:srgbClr val="F0EDE6"/>
                </a:solidFill>
                <a:latin typeface="Calibri" pitchFamily="34" charset="0"/>
                <a:ea typeface="Calibri" pitchFamily="34" charset="-122"/>
                <a:cs typeface="Calibri" pitchFamily="34" charset="-120"/>
              </a:rPr>
              <a:t>The Software Eng.</a:t>
            </a:r>
          </a:p>
          <a:p>
            <a:pPr marL="0" indent="0" algn="ctr">
              <a:lnSpc>
                <a:spcPct val="100000"/>
              </a:lnSpc>
              <a:spcBef>
                <a:spcPts val="200"/>
              </a:spcBef>
              <a:buNone/>
            </a:pPr>
            <a:r>
              <a:rPr lang="en-US" sz="1200" dirty="0">
                <a:solidFill>
                  <a:srgbClr val="AAAAAA"/>
                </a:solidFill>
                <a:latin typeface="Calibri" pitchFamily="34" charset="0"/>
                <a:ea typeface="Calibri" pitchFamily="34" charset="-122"/>
                <a:cs typeface="Calibri" pitchFamily="34" charset="-120"/>
              </a:rPr>
              <a:t>TDD, workflow architecture</a:t>
            </a:r>
          </a:p>
        </p:txBody>
      </p:sp>
      <p:sp>
        <p:nvSpPr>
          <p:cNvPr id="14" name="Shape 12"/>
          <p:cNvSpPr/>
          <p:nvPr/>
        </p:nvSpPr>
        <p:spPr>
          <a:xfrm>
            <a:off x="6477000" y="1587500"/>
            <a:ext cx="2159000" cy="889000"/>
          </a:xfrm>
          <a:prstGeom prst="rect">
            <a:avLst/>
          </a:prstGeom>
          <a:solidFill>
            <a:srgbClr val="1A1917"/>
          </a:solidFill>
          <a:ln w="6350">
            <a:solidFill>
              <a:srgbClr val="2A2826"/>
            </a:solidFill>
            <a:prstDash val="solid"/>
          </a:ln>
        </p:spPr>
        <p:txBody>
          <a:bodyPr/>
          <a:lstStyle/>
          <a:p>
            <a:endParaRPr lang="en-US"/>
          </a:p>
        </p:txBody>
      </p:sp>
      <p:sp>
        <p:nvSpPr>
          <p:cNvPr id="15" name="Text 13"/>
          <p:cNvSpPr/>
          <p:nvPr/>
        </p:nvSpPr>
        <p:spPr>
          <a:xfrm>
            <a:off x="6477000" y="1587500"/>
            <a:ext cx="2159000" cy="889000"/>
          </a:xfrm>
          <a:prstGeom prst="rect">
            <a:avLst/>
          </a:prstGeom>
          <a:noFill/>
          <a:ln/>
        </p:spPr>
        <p:txBody>
          <a:bodyPr wrap="square" rtlCol="0" anchor="ctr"/>
          <a:lstStyle/>
          <a:p>
            <a:pPr marL="0" indent="0" algn="ctr">
              <a:lnSpc>
                <a:spcPct val="110000"/>
              </a:lnSpc>
              <a:buNone/>
            </a:pPr>
            <a:r>
              <a:rPr lang="en-US" sz="1600" b="1" dirty="0">
                <a:solidFill>
                  <a:srgbClr val="F0EDE6"/>
                </a:solidFill>
                <a:latin typeface="Calibri" pitchFamily="34" charset="0"/>
                <a:ea typeface="Calibri" pitchFamily="34" charset="-122"/>
                <a:cs typeface="Calibri" pitchFamily="34" charset="-120"/>
              </a:rPr>
              <a:t>The Engineer</a:t>
            </a:r>
          </a:p>
          <a:p>
            <a:pPr marL="0" indent="0" algn="ctr">
              <a:lnSpc>
                <a:spcPct val="100000"/>
              </a:lnSpc>
              <a:spcBef>
                <a:spcPts val="200"/>
              </a:spcBef>
              <a:buNone/>
            </a:pPr>
            <a:r>
              <a:rPr lang="en-US" sz="1200" dirty="0">
                <a:solidFill>
                  <a:srgbClr val="AAAAAA"/>
                </a:solidFill>
                <a:latin typeface="Calibri" pitchFamily="34" charset="0"/>
                <a:ea typeface="Calibri" pitchFamily="34" charset="-122"/>
                <a:cs typeface="Calibri" pitchFamily="34" charset="-120"/>
              </a:rPr>
              <a:t>Builds, tests, verifies</a:t>
            </a:r>
          </a:p>
        </p:txBody>
      </p:sp>
      <p:sp>
        <p:nvSpPr>
          <p:cNvPr id="16" name="Shape 14"/>
          <p:cNvSpPr/>
          <p:nvPr/>
        </p:nvSpPr>
        <p:spPr>
          <a:xfrm>
            <a:off x="6477000" y="2603500"/>
            <a:ext cx="2159000" cy="889000"/>
          </a:xfrm>
          <a:prstGeom prst="rect">
            <a:avLst/>
          </a:prstGeom>
          <a:solidFill>
            <a:srgbClr val="1A1917"/>
          </a:solidFill>
          <a:ln w="6350">
            <a:solidFill>
              <a:srgbClr val="2A2826"/>
            </a:solidFill>
            <a:prstDash val="solid"/>
          </a:ln>
        </p:spPr>
        <p:txBody>
          <a:bodyPr/>
          <a:lstStyle/>
          <a:p>
            <a:endParaRPr lang="en-US"/>
          </a:p>
        </p:txBody>
      </p:sp>
      <p:sp>
        <p:nvSpPr>
          <p:cNvPr id="17" name="Text 15"/>
          <p:cNvSpPr/>
          <p:nvPr/>
        </p:nvSpPr>
        <p:spPr>
          <a:xfrm>
            <a:off x="6477000" y="2603500"/>
            <a:ext cx="2159000" cy="889000"/>
          </a:xfrm>
          <a:prstGeom prst="rect">
            <a:avLst/>
          </a:prstGeom>
          <a:noFill/>
          <a:ln/>
        </p:spPr>
        <p:txBody>
          <a:bodyPr wrap="square" rtlCol="0" anchor="ctr"/>
          <a:lstStyle/>
          <a:p>
            <a:pPr marL="0" indent="0" algn="ctr">
              <a:lnSpc>
                <a:spcPct val="110000"/>
              </a:lnSpc>
              <a:buNone/>
            </a:pPr>
            <a:r>
              <a:rPr lang="en-US" sz="1600" b="1" dirty="0">
                <a:solidFill>
                  <a:srgbClr val="F0EDE6"/>
                </a:solidFill>
                <a:latin typeface="Calibri" pitchFamily="34" charset="0"/>
                <a:ea typeface="Calibri" pitchFamily="34" charset="-122"/>
                <a:cs typeface="Calibri" pitchFamily="34" charset="-120"/>
              </a:rPr>
              <a:t>The Designer</a:t>
            </a:r>
          </a:p>
          <a:p>
            <a:pPr marL="0" indent="0" algn="ctr">
              <a:lnSpc>
                <a:spcPct val="100000"/>
              </a:lnSpc>
              <a:spcBef>
                <a:spcPts val="200"/>
              </a:spcBef>
              <a:buNone/>
            </a:pPr>
            <a:r>
              <a:rPr lang="en-US" sz="1200" dirty="0">
                <a:solidFill>
                  <a:srgbClr val="AAAAAA"/>
                </a:solidFill>
                <a:latin typeface="Calibri" pitchFamily="34" charset="0"/>
                <a:ea typeface="Calibri" pitchFamily="34" charset="-122"/>
                <a:cs typeface="Calibri" pitchFamily="34" charset="-120"/>
              </a:rPr>
              <a:t>Consistency, design critique</a:t>
            </a:r>
          </a:p>
        </p:txBody>
      </p:sp>
      <p:sp>
        <p:nvSpPr>
          <p:cNvPr id="18" name="Shape 16"/>
          <p:cNvSpPr/>
          <p:nvPr/>
        </p:nvSpPr>
        <p:spPr>
          <a:xfrm>
            <a:off x="6477000" y="3619500"/>
            <a:ext cx="2159000" cy="889000"/>
          </a:xfrm>
          <a:prstGeom prst="rect">
            <a:avLst/>
          </a:prstGeom>
          <a:solidFill>
            <a:srgbClr val="1A1917"/>
          </a:solidFill>
          <a:ln w="6350">
            <a:solidFill>
              <a:srgbClr val="2A2826"/>
            </a:solidFill>
            <a:prstDash val="solid"/>
          </a:ln>
        </p:spPr>
        <p:txBody>
          <a:bodyPr/>
          <a:lstStyle/>
          <a:p>
            <a:endParaRPr lang="en-US"/>
          </a:p>
        </p:txBody>
      </p:sp>
      <p:sp>
        <p:nvSpPr>
          <p:cNvPr id="19" name="Text 17"/>
          <p:cNvSpPr/>
          <p:nvPr/>
        </p:nvSpPr>
        <p:spPr>
          <a:xfrm>
            <a:off x="6477000" y="3619500"/>
            <a:ext cx="2159000" cy="889000"/>
          </a:xfrm>
          <a:prstGeom prst="rect">
            <a:avLst/>
          </a:prstGeom>
          <a:noFill/>
          <a:ln/>
        </p:spPr>
        <p:txBody>
          <a:bodyPr wrap="square" rtlCol="0" anchor="ctr"/>
          <a:lstStyle/>
          <a:p>
            <a:pPr marL="0" indent="0" algn="ctr">
              <a:lnSpc>
                <a:spcPct val="110000"/>
              </a:lnSpc>
              <a:buNone/>
            </a:pPr>
            <a:r>
              <a:rPr lang="en-US" sz="1600" b="1" dirty="0">
                <a:solidFill>
                  <a:srgbClr val="F0EDE6"/>
                </a:solidFill>
                <a:latin typeface="Calibri" pitchFamily="34" charset="0"/>
                <a:ea typeface="Calibri" pitchFamily="34" charset="-122"/>
                <a:cs typeface="Calibri" pitchFamily="34" charset="-120"/>
              </a:rPr>
              <a:t>The Systems Eng.</a:t>
            </a:r>
          </a:p>
          <a:p>
            <a:pPr marL="0" indent="0" algn="ctr">
              <a:lnSpc>
                <a:spcPct val="100000"/>
              </a:lnSpc>
              <a:spcBef>
                <a:spcPts val="200"/>
              </a:spcBef>
              <a:buNone/>
            </a:pPr>
            <a:r>
              <a:rPr lang="en-US" sz="1200" dirty="0">
                <a:solidFill>
                  <a:srgbClr val="AAAAAA"/>
                </a:solidFill>
                <a:latin typeface="Calibri" pitchFamily="34" charset="0"/>
                <a:ea typeface="Calibri" pitchFamily="34" charset="-122"/>
                <a:cs typeface="Calibri" pitchFamily="34" charset="-120"/>
              </a:rPr>
              <a:t>Conceptual integrity</a:t>
            </a:r>
          </a:p>
        </p:txBody>
      </p:sp>
      <p:sp>
        <p:nvSpPr>
          <p:cNvPr id="20" name="Shape 18"/>
          <p:cNvSpPr/>
          <p:nvPr/>
        </p:nvSpPr>
        <p:spPr>
          <a:xfrm>
            <a:off x="2667000" y="2032000"/>
            <a:ext cx="571500" cy="444500"/>
          </a:xfrm>
          <a:prstGeom prst="line">
            <a:avLst/>
          </a:prstGeom>
          <a:noFill/>
          <a:ln w="19050">
            <a:solidFill>
              <a:srgbClr val="AAAAAA"/>
            </a:solidFill>
          </a:ln>
        </p:spPr>
        <p:txBody>
          <a:bodyPr/>
          <a:lstStyle/>
          <a:p>
            <a:endParaRPr lang="en-US"/>
          </a:p>
        </p:txBody>
      </p:sp>
      <p:sp>
        <p:nvSpPr>
          <p:cNvPr id="21" name="Shape 19"/>
          <p:cNvSpPr/>
          <p:nvPr/>
        </p:nvSpPr>
        <p:spPr>
          <a:xfrm>
            <a:off x="2667000" y="3048000"/>
            <a:ext cx="571500" cy="0"/>
          </a:xfrm>
          <a:prstGeom prst="line">
            <a:avLst/>
          </a:prstGeom>
          <a:noFill/>
          <a:ln w="19050">
            <a:solidFill>
              <a:srgbClr val="AAAAAA"/>
            </a:solidFill>
          </a:ln>
        </p:spPr>
        <p:txBody>
          <a:bodyPr/>
          <a:lstStyle/>
          <a:p>
            <a:endParaRPr lang="en-US"/>
          </a:p>
        </p:txBody>
      </p:sp>
      <p:sp>
        <p:nvSpPr>
          <p:cNvPr id="22" name="Shape 20"/>
          <p:cNvSpPr/>
          <p:nvPr/>
        </p:nvSpPr>
        <p:spPr>
          <a:xfrm flipV="1">
            <a:off x="2667000" y="3619500"/>
            <a:ext cx="571500" cy="444500"/>
          </a:xfrm>
          <a:prstGeom prst="line">
            <a:avLst/>
          </a:prstGeom>
          <a:noFill/>
          <a:ln w="19050">
            <a:solidFill>
              <a:srgbClr val="AAAAAA"/>
            </a:solidFill>
          </a:ln>
        </p:spPr>
        <p:txBody>
          <a:bodyPr/>
          <a:lstStyle/>
          <a:p>
            <a:endParaRPr lang="en-US"/>
          </a:p>
        </p:txBody>
      </p:sp>
      <p:sp>
        <p:nvSpPr>
          <p:cNvPr id="23" name="Shape 21"/>
          <p:cNvSpPr/>
          <p:nvPr/>
        </p:nvSpPr>
        <p:spPr>
          <a:xfrm flipV="1">
            <a:off x="5905500" y="2032000"/>
            <a:ext cx="571500" cy="444500"/>
          </a:xfrm>
          <a:prstGeom prst="line">
            <a:avLst/>
          </a:prstGeom>
          <a:noFill/>
          <a:ln w="19050">
            <a:solidFill>
              <a:srgbClr val="AAAAAA"/>
            </a:solidFill>
          </a:ln>
        </p:spPr>
        <p:txBody>
          <a:bodyPr/>
          <a:lstStyle/>
          <a:p>
            <a:endParaRPr lang="en-US"/>
          </a:p>
        </p:txBody>
      </p:sp>
      <p:sp>
        <p:nvSpPr>
          <p:cNvPr id="24" name="Shape 22"/>
          <p:cNvSpPr/>
          <p:nvPr/>
        </p:nvSpPr>
        <p:spPr>
          <a:xfrm>
            <a:off x="5905500" y="3048000"/>
            <a:ext cx="571500" cy="0"/>
          </a:xfrm>
          <a:prstGeom prst="line">
            <a:avLst/>
          </a:prstGeom>
          <a:noFill/>
          <a:ln w="19050">
            <a:solidFill>
              <a:srgbClr val="AAAAAA"/>
            </a:solidFill>
          </a:ln>
        </p:spPr>
        <p:txBody>
          <a:bodyPr/>
          <a:lstStyle/>
          <a:p>
            <a:endParaRPr lang="en-US"/>
          </a:p>
        </p:txBody>
      </p:sp>
      <p:sp>
        <p:nvSpPr>
          <p:cNvPr id="25" name="Shape 23"/>
          <p:cNvSpPr/>
          <p:nvPr/>
        </p:nvSpPr>
        <p:spPr>
          <a:xfrm>
            <a:off x="5905500" y="3619500"/>
            <a:ext cx="571500" cy="444500"/>
          </a:xfrm>
          <a:prstGeom prst="line">
            <a:avLst/>
          </a:prstGeom>
          <a:noFill/>
          <a:ln w="19050">
            <a:solidFill>
              <a:srgbClr val="AAAAAA"/>
            </a:solidFill>
          </a:ln>
        </p:spPr>
        <p:txBody>
          <a:bodyPr/>
          <a:lstStyle/>
          <a:p>
            <a:endParaRPr lang="en-US"/>
          </a:p>
        </p:txBody>
      </p:sp>
      <p:sp>
        <p:nvSpPr>
          <p:cNvPr id="26" name="Text 24"/>
          <p:cNvSpPr/>
          <p:nvPr/>
        </p:nvSpPr>
        <p:spPr>
          <a:xfrm>
            <a:off x="640080" y="4635500"/>
            <a:ext cx="7863840" cy="365760"/>
          </a:xfrm>
          <a:prstGeom prst="rect">
            <a:avLst/>
          </a:prstGeom>
          <a:noFill/>
          <a:ln/>
        </p:spPr>
        <p:txBody>
          <a:bodyPr wrap="square" lIns="0" tIns="0" rIns="0" bIns="0" rtlCol="0" anchor="ctr"/>
          <a:lstStyle/>
          <a:p>
            <a:pPr marL="0" indent="0">
              <a:buNone/>
            </a:pPr>
            <a:r>
              <a:rPr lang="en-US" sz="1400" dirty="0">
                <a:solidFill>
                  <a:srgbClr val="AAAAAA"/>
                </a:solidFill>
                <a:latin typeface="Calibri" pitchFamily="34" charset="0"/>
                <a:ea typeface="Calibri" pitchFamily="34" charset="-122"/>
                <a:cs typeface="Calibri" pitchFamily="34" charset="-120"/>
              </a:rPr>
              <a:t>+5 more specialists. Each gets a clean context window. The </a:t>
            </a:r>
            <a:r>
              <a:rPr lang="en-US" sz="1400" strike="sngStrike" dirty="0">
                <a:solidFill>
                  <a:srgbClr val="AAAAAA"/>
                </a:solidFill>
                <a:latin typeface="Calibri" pitchFamily="34" charset="0"/>
                <a:ea typeface="Calibri" pitchFamily="34" charset="-122"/>
                <a:cs typeface="Calibri" pitchFamily="34" charset="-120"/>
              </a:rPr>
              <a:t>orchestrator</a:t>
            </a:r>
            <a:r>
              <a:rPr lang="en-US" sz="1400" dirty="0">
                <a:solidFill>
                  <a:srgbClr val="AAAAAA"/>
                </a:solidFill>
                <a:latin typeface="Calibri" pitchFamily="34" charset="0"/>
                <a:ea typeface="Calibri" pitchFamily="34" charset="-122"/>
                <a:cs typeface="Calibri" pitchFamily="34" charset="-120"/>
              </a:rPr>
              <a:t> </a:t>
            </a:r>
            <a:r>
              <a:rPr lang="en-US" sz="1400" b="1" dirty="0">
                <a:solidFill>
                  <a:srgbClr val="AAAAAA"/>
                </a:solidFill>
                <a:latin typeface="Calibri" pitchFamily="34" charset="0"/>
                <a:ea typeface="Calibri" pitchFamily="34" charset="-122"/>
                <a:cs typeface="Calibri" pitchFamily="34" charset="-120"/>
              </a:rPr>
              <a:t>local filesystem</a:t>
            </a:r>
            <a:r>
              <a:rPr lang="en-US" sz="1400" dirty="0">
                <a:solidFill>
                  <a:srgbClr val="AAAAAA"/>
                </a:solidFill>
                <a:latin typeface="Calibri" pitchFamily="34" charset="0"/>
                <a:ea typeface="Calibri" pitchFamily="34" charset="-122"/>
                <a:cs typeface="Calibri" pitchFamily="34" charset="-120"/>
              </a:rPr>
              <a:t> holds the full state.</a:t>
            </a:r>
            <a:endParaRPr lang="en-US" sz="1400" dirty="0"/>
          </a:p>
        </p:txBody>
      </p:sp>
    </p:spTree>
    <p:extLst>
      <p:ext uri="{BB962C8B-B14F-4D97-AF65-F5344CB8AC3E}">
        <p14:creationId xmlns:p14="http://schemas.microsoft.com/office/powerpoint/2010/main" val="916240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The standing roster</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4257152683"/>
              </p:ext>
            </p:extLst>
          </p:nvPr>
        </p:nvGraphicFramePr>
        <p:xfrm>
          <a:off x="457200" y="1161140"/>
          <a:ext cx="8229600" cy="3683000"/>
        </p:xfrm>
        <a:graphic>
          <a:graphicData uri="http://schemas.openxmlformats.org/drawingml/2006/table">
            <a:tbl>
              <a:tblPr/>
              <a:tblGrid>
                <a:gridCol w="2413000">
                  <a:extLst>
                    <a:ext uri="{9D8B030D-6E8A-4147-A177-3AD203B41FA5}">
                      <a16:colId xmlns:a16="http://schemas.microsoft.com/office/drawing/2014/main" val="20000"/>
                    </a:ext>
                  </a:extLst>
                </a:gridCol>
                <a:gridCol w="5816600">
                  <a:extLst>
                    <a:ext uri="{9D8B030D-6E8A-4147-A177-3AD203B41FA5}">
                      <a16:colId xmlns:a16="http://schemas.microsoft.com/office/drawing/2014/main" val="20001"/>
                    </a:ext>
                  </a:extLst>
                </a:gridCol>
              </a:tblGrid>
              <a:tr h="330200">
                <a:tc>
                  <a:txBody>
                    <a:bodyPr/>
                    <a:lstStyle/>
                    <a:p>
                      <a:pPr marL="0" indent="0">
                        <a:buNone/>
                      </a:pPr>
                      <a:r>
                        <a:rPr lang="en-US" sz="1400" b="1" dirty="0">
                          <a:solidFill>
                            <a:srgbClr val="121212"/>
                          </a:solidFill>
                          <a:latin typeface="Calibri" pitchFamily="34" charset="0"/>
                        </a:rPr>
                        <a:t>Role</a:t>
                      </a:r>
                    </a:p>
                  </a:txBody>
                  <a:tcPr anchor="ctr">
                    <a:lnL w="0" cap="flat" cmpd="sng" algn="ctr">
                      <a:noFill/>
                    </a:lnL>
                    <a:lnR w="0" cap="flat" cmpd="sng" algn="ctr">
                      <a:noFill/>
                    </a:lnR>
                    <a:lnT w="0" cap="flat" cmpd="sng" algn="ctr">
                      <a:noFill/>
                    </a:lnT>
                    <a:lnB w="0" cap="flat" cmpd="sng" algn="ctr">
                      <a:noFill/>
                    </a:lnB>
                    <a:solidFill>
                      <a:srgbClr val="C87941"/>
                    </a:solidFill>
                  </a:tcPr>
                </a:tc>
                <a:tc>
                  <a:txBody>
                    <a:bodyPr/>
                    <a:lstStyle/>
                    <a:p>
                      <a:pPr marL="0" indent="0">
                        <a:buNone/>
                      </a:pPr>
                      <a:r>
                        <a:rPr lang="en-US" sz="1400" b="1" dirty="0">
                          <a:solidFill>
                            <a:srgbClr val="121212"/>
                          </a:solidFill>
                          <a:latin typeface="Calibri" pitchFamily="34" charset="0"/>
                        </a:rPr>
                        <a:t>Domain</a:t>
                      </a:r>
                    </a:p>
                  </a:txBody>
                  <a:tcPr anchor="ctr">
                    <a:lnL w="0" cap="flat" cmpd="sng" algn="ctr">
                      <a:noFill/>
                    </a:lnL>
                    <a:lnR w="0" cap="flat" cmpd="sng" algn="ctr">
                      <a:noFill/>
                    </a:lnR>
                    <a:lnT w="0" cap="flat" cmpd="sng" algn="ctr">
                      <a:noFill/>
                    </a:lnT>
                    <a:lnB w="0" cap="flat" cmpd="sng" algn="ctr">
                      <a:noFill/>
                    </a:lnB>
                    <a:solidFill>
                      <a:srgbClr val="C87941"/>
                    </a:solidFill>
                  </a:tcPr>
                </a:tc>
                <a:extLst>
                  <a:ext uri="{0D108BD9-81ED-4DB2-BD59-A6C34878D82A}">
                    <a16:rowId xmlns:a16="http://schemas.microsoft.com/office/drawing/2014/main" val="10000"/>
                  </a:ext>
                </a:extLst>
              </a:tr>
              <a:tr h="292100">
                <a:tc>
                  <a:txBody>
                    <a:bodyPr/>
                    <a:lstStyle/>
                    <a:p>
                      <a:pPr marL="0" indent="0">
                        <a:buNone/>
                      </a:pPr>
                      <a:r>
                        <a:rPr lang="en-US" sz="1400" b="1" dirty="0">
                          <a:solidFill>
                            <a:srgbClr val="F0EDE6"/>
                          </a:solidFill>
                          <a:latin typeface="Calibri" pitchFamily="34" charset="0"/>
                        </a:rPr>
                        <a:t>The Manager</a:t>
                      </a:r>
                    </a:p>
                  </a:txBody>
                  <a:tcPr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marL="0" indent="0">
                        <a:buNone/>
                      </a:pPr>
                      <a:r>
                        <a:rPr lang="en-US" sz="1400" dirty="0">
                          <a:solidFill>
                            <a:srgbClr val="F0EDE6"/>
                          </a:solidFill>
                          <a:latin typeface="Calibri" pitchFamily="34" charset="0"/>
                        </a:rPr>
                        <a:t>Scope discipline and deliverable accountability. Manages by enabling.</a:t>
                      </a:r>
                    </a:p>
                  </a:txBody>
                  <a:tcPr anchor="ctr">
                    <a:lnL w="0" cap="flat" cmpd="sng" algn="ctr">
                      <a:noFill/>
                    </a:lnL>
                    <a:lnR w="0" cap="flat" cmpd="sng" algn="ctr">
                      <a:noFill/>
                    </a:lnR>
                    <a:lnT w="0" cap="flat" cmpd="sng" algn="ctr">
                      <a:noFill/>
                    </a:lnT>
                    <a:lnB w="0" cap="flat" cmpd="sng" algn="ctr">
                      <a:noFill/>
                    </a:lnB>
                    <a:solidFill>
                      <a:srgbClr val="1E1E1E"/>
                    </a:solidFill>
                  </a:tcPr>
                </a:tc>
                <a:extLst>
                  <a:ext uri="{0D108BD9-81ED-4DB2-BD59-A6C34878D82A}">
                    <a16:rowId xmlns:a16="http://schemas.microsoft.com/office/drawing/2014/main" val="10001"/>
                  </a:ext>
                </a:extLst>
              </a:tr>
              <a:tr h="292100">
                <a:tc>
                  <a:txBody>
                    <a:bodyPr/>
                    <a:lstStyle/>
                    <a:p>
                      <a:pPr marL="0" indent="0">
                        <a:buNone/>
                      </a:pPr>
                      <a:r>
                        <a:rPr lang="en-US" sz="1400" b="1" dirty="0">
                          <a:solidFill>
                            <a:srgbClr val="F0EDE6"/>
                          </a:solidFill>
                          <a:latin typeface="Calibri" pitchFamily="34" charset="0"/>
                        </a:rPr>
                        <a:t>The Loftsman</a:t>
                      </a:r>
                    </a:p>
                  </a:txBody>
                  <a:tcPr anchor="ctr">
                    <a:lnL w="0" cap="flat" cmpd="sng" algn="ctr">
                      <a:noFill/>
                    </a:lnL>
                    <a:lnR w="0" cap="flat" cmpd="sng" algn="ctr">
                      <a:noFill/>
                    </a:lnR>
                    <a:lnT w="0" cap="flat" cmpd="sng" algn="ctr">
                      <a:noFill/>
                    </a:lnT>
                    <a:lnB w="0" cap="flat" cmpd="sng" algn="ctr">
                      <a:noFill/>
                    </a:lnB>
                    <a:solidFill>
                      <a:srgbClr val="2A2A2A"/>
                    </a:solidFill>
                  </a:tcPr>
                </a:tc>
                <a:tc>
                  <a:txBody>
                    <a:bodyPr/>
                    <a:lstStyle/>
                    <a:p>
                      <a:pPr marL="0" indent="0">
                        <a:buNone/>
                      </a:pPr>
                      <a:r>
                        <a:rPr lang="en-US" sz="1400" dirty="0">
                          <a:solidFill>
                            <a:srgbClr val="F0EDE6"/>
                          </a:solidFill>
                          <a:latin typeface="Calibri" pitchFamily="34" charset="0"/>
                        </a:rPr>
                        <a:t>Analytical lofting, conic geometry, surface definition.</a:t>
                      </a:r>
                    </a:p>
                  </a:txBody>
                  <a:tcPr anchor="ctr">
                    <a:lnL w="0" cap="flat" cmpd="sng" algn="ctr">
                      <a:noFill/>
                    </a:lnL>
                    <a:lnR w="0" cap="flat" cmpd="sng" algn="ctr">
                      <a:noFill/>
                    </a:lnR>
                    <a:lnT w="0" cap="flat" cmpd="sng" algn="ctr">
                      <a:noFill/>
                    </a:lnT>
                    <a:lnB w="0" cap="flat" cmpd="sng" algn="ctr">
                      <a:noFill/>
                    </a:lnB>
                    <a:solidFill>
                      <a:srgbClr val="2A2A2A"/>
                    </a:solidFill>
                  </a:tcPr>
                </a:tc>
                <a:extLst>
                  <a:ext uri="{0D108BD9-81ED-4DB2-BD59-A6C34878D82A}">
                    <a16:rowId xmlns:a16="http://schemas.microsoft.com/office/drawing/2014/main" val="10002"/>
                  </a:ext>
                </a:extLst>
              </a:tr>
              <a:tr h="292100">
                <a:tc>
                  <a:txBody>
                    <a:bodyPr/>
                    <a:lstStyle/>
                    <a:p>
                      <a:pPr marL="0" indent="0">
                        <a:buNone/>
                      </a:pPr>
                      <a:r>
                        <a:rPr lang="en-US" sz="1400" b="1" dirty="0">
                          <a:solidFill>
                            <a:srgbClr val="F0EDE6"/>
                          </a:solidFill>
                          <a:latin typeface="Calibri" pitchFamily="34" charset="0"/>
                        </a:rPr>
                        <a:t>The Software Engineer</a:t>
                      </a:r>
                    </a:p>
                  </a:txBody>
                  <a:tcPr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marL="0" indent="0">
                        <a:buNone/>
                      </a:pPr>
                      <a:r>
                        <a:rPr lang="en-US" sz="1400" dirty="0">
                          <a:solidFill>
                            <a:srgbClr val="F0EDE6"/>
                          </a:solidFill>
                          <a:latin typeface="Calibri" pitchFamily="34" charset="0"/>
                        </a:rPr>
                        <a:t>Test-driven workflow, test suite design, simplicity gate.</a:t>
                      </a:r>
                    </a:p>
                  </a:txBody>
                  <a:tcPr anchor="ctr">
                    <a:lnL w="0" cap="flat" cmpd="sng" algn="ctr">
                      <a:noFill/>
                    </a:lnL>
                    <a:lnR w="0" cap="flat" cmpd="sng" algn="ctr">
                      <a:noFill/>
                    </a:lnR>
                    <a:lnT w="0" cap="flat" cmpd="sng" algn="ctr">
                      <a:noFill/>
                    </a:lnT>
                    <a:lnB w="0" cap="flat" cmpd="sng" algn="ctr">
                      <a:noFill/>
                    </a:lnB>
                    <a:solidFill>
                      <a:srgbClr val="1E1E1E"/>
                    </a:solidFill>
                  </a:tcPr>
                </a:tc>
                <a:extLst>
                  <a:ext uri="{0D108BD9-81ED-4DB2-BD59-A6C34878D82A}">
                    <a16:rowId xmlns:a16="http://schemas.microsoft.com/office/drawing/2014/main" val="10003"/>
                  </a:ext>
                </a:extLst>
              </a:tr>
              <a:tr h="292100">
                <a:tc>
                  <a:txBody>
                    <a:bodyPr/>
                    <a:lstStyle/>
                    <a:p>
                      <a:pPr marL="0" indent="0">
                        <a:buNone/>
                      </a:pPr>
                      <a:r>
                        <a:rPr lang="en-US" sz="1400" b="1" dirty="0">
                          <a:solidFill>
                            <a:srgbClr val="F0EDE6"/>
                          </a:solidFill>
                          <a:latin typeface="Calibri" pitchFamily="34" charset="0"/>
                        </a:rPr>
                        <a:t>The Engineer</a:t>
                      </a:r>
                    </a:p>
                  </a:txBody>
                  <a:tcPr anchor="ctr">
                    <a:lnL w="0" cap="flat" cmpd="sng" algn="ctr">
                      <a:noFill/>
                    </a:lnL>
                    <a:lnR w="0" cap="flat" cmpd="sng" algn="ctr">
                      <a:noFill/>
                    </a:lnR>
                    <a:lnT w="0" cap="flat" cmpd="sng" algn="ctr">
                      <a:noFill/>
                    </a:lnT>
                    <a:lnB w="0" cap="flat" cmpd="sng" algn="ctr">
                      <a:noFill/>
                    </a:lnB>
                    <a:solidFill>
                      <a:srgbClr val="2A2A2A"/>
                    </a:solidFill>
                  </a:tcPr>
                </a:tc>
                <a:tc>
                  <a:txBody>
                    <a:bodyPr/>
                    <a:lstStyle/>
                    <a:p>
                      <a:pPr marL="0" indent="0">
                        <a:buNone/>
                      </a:pPr>
                      <a:r>
                        <a:rPr lang="en-US" sz="1400" dirty="0">
                          <a:solidFill>
                            <a:srgbClr val="F0EDE6"/>
                          </a:solidFill>
                          <a:latin typeface="Calibri" pitchFamily="34" charset="0"/>
                        </a:rPr>
                        <a:t>Code, mechanical design, hardware interfaces, empirical verification.</a:t>
                      </a:r>
                    </a:p>
                  </a:txBody>
                  <a:tcPr anchor="ctr">
                    <a:lnL w="0" cap="flat" cmpd="sng" algn="ctr">
                      <a:noFill/>
                    </a:lnL>
                    <a:lnR w="0" cap="flat" cmpd="sng" algn="ctr">
                      <a:noFill/>
                    </a:lnR>
                    <a:lnT w="0" cap="flat" cmpd="sng" algn="ctr">
                      <a:noFill/>
                    </a:lnT>
                    <a:lnB w="0" cap="flat" cmpd="sng" algn="ctr">
                      <a:noFill/>
                    </a:lnB>
                    <a:solidFill>
                      <a:srgbClr val="2A2A2A"/>
                    </a:solidFill>
                  </a:tcPr>
                </a:tc>
                <a:extLst>
                  <a:ext uri="{0D108BD9-81ED-4DB2-BD59-A6C34878D82A}">
                    <a16:rowId xmlns:a16="http://schemas.microsoft.com/office/drawing/2014/main" val="10004"/>
                  </a:ext>
                </a:extLst>
              </a:tr>
              <a:tr h="292100">
                <a:tc>
                  <a:txBody>
                    <a:bodyPr/>
                    <a:lstStyle/>
                    <a:p>
                      <a:pPr marL="0" indent="0">
                        <a:buNone/>
                      </a:pPr>
                      <a:r>
                        <a:rPr lang="en-US" sz="1400" b="1" dirty="0">
                          <a:solidFill>
                            <a:srgbClr val="F0EDE6"/>
                          </a:solidFill>
                          <a:latin typeface="Calibri" pitchFamily="34" charset="0"/>
                        </a:rPr>
                        <a:t>The Topologist</a:t>
                      </a:r>
                    </a:p>
                  </a:txBody>
                  <a:tcPr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marL="0" indent="0">
                        <a:buNone/>
                      </a:pPr>
                      <a:r>
                        <a:rPr lang="en-US" sz="1400" dirty="0">
                          <a:solidFill>
                            <a:srgbClr val="F0EDE6"/>
                          </a:solidFill>
                          <a:latin typeface="Calibri" pitchFamily="34" charset="0"/>
                        </a:rPr>
                        <a:t>B-rep topology, Euler operators, catches geometry bugs.</a:t>
                      </a:r>
                    </a:p>
                  </a:txBody>
                  <a:tcPr anchor="ctr">
                    <a:lnL w="0" cap="flat" cmpd="sng" algn="ctr">
                      <a:noFill/>
                    </a:lnL>
                    <a:lnR w="0" cap="flat" cmpd="sng" algn="ctr">
                      <a:noFill/>
                    </a:lnR>
                    <a:lnT w="0" cap="flat" cmpd="sng" algn="ctr">
                      <a:noFill/>
                    </a:lnT>
                    <a:lnB w="0" cap="flat" cmpd="sng" algn="ctr">
                      <a:noFill/>
                    </a:lnB>
                    <a:solidFill>
                      <a:srgbClr val="1E1E1E"/>
                    </a:solidFill>
                  </a:tcPr>
                </a:tc>
                <a:extLst>
                  <a:ext uri="{0D108BD9-81ED-4DB2-BD59-A6C34878D82A}">
                    <a16:rowId xmlns:a16="http://schemas.microsoft.com/office/drawing/2014/main" val="10005"/>
                  </a:ext>
                </a:extLst>
              </a:tr>
              <a:tr h="292100">
                <a:tc>
                  <a:txBody>
                    <a:bodyPr/>
                    <a:lstStyle/>
                    <a:p>
                      <a:pPr marL="0" indent="0">
                        <a:buNone/>
                      </a:pPr>
                      <a:r>
                        <a:rPr lang="en-US" sz="1400" b="1" dirty="0">
                          <a:solidFill>
                            <a:srgbClr val="F0EDE6"/>
                          </a:solidFill>
                          <a:latin typeface="Calibri" pitchFamily="34" charset="0"/>
                        </a:rPr>
                        <a:t>The Motor Designer</a:t>
                      </a:r>
                    </a:p>
                  </a:txBody>
                  <a:tcPr anchor="ctr">
                    <a:lnL w="0" cap="flat" cmpd="sng" algn="ctr">
                      <a:noFill/>
                    </a:lnL>
                    <a:lnR w="0" cap="flat" cmpd="sng" algn="ctr">
                      <a:noFill/>
                    </a:lnR>
                    <a:lnT w="0" cap="flat" cmpd="sng" algn="ctr">
                      <a:noFill/>
                    </a:lnT>
                    <a:lnB w="0" cap="flat" cmpd="sng" algn="ctr">
                      <a:noFill/>
                    </a:lnB>
                    <a:solidFill>
                      <a:srgbClr val="2A2A2A"/>
                    </a:solidFill>
                  </a:tcPr>
                </a:tc>
                <a:tc>
                  <a:txBody>
                    <a:bodyPr/>
                    <a:lstStyle/>
                    <a:p>
                      <a:pPr marL="0" indent="0">
                        <a:buNone/>
                      </a:pPr>
                      <a:r>
                        <a:rPr lang="en-US" sz="1400" dirty="0">
                          <a:solidFill>
                            <a:srgbClr val="F0EDE6"/>
                          </a:solidFill>
                          <a:latin typeface="Calibri" pitchFamily="34" charset="0"/>
                        </a:rPr>
                        <a:t>EM design, magnetic circuits, winding, loss analysis.</a:t>
                      </a:r>
                    </a:p>
                  </a:txBody>
                  <a:tcPr anchor="ctr">
                    <a:lnL w="0" cap="flat" cmpd="sng" algn="ctr">
                      <a:noFill/>
                    </a:lnL>
                    <a:lnR w="0" cap="flat" cmpd="sng" algn="ctr">
                      <a:noFill/>
                    </a:lnR>
                    <a:lnT w="0" cap="flat" cmpd="sng" algn="ctr">
                      <a:noFill/>
                    </a:lnT>
                    <a:lnB w="0" cap="flat" cmpd="sng" algn="ctr">
                      <a:noFill/>
                    </a:lnB>
                    <a:solidFill>
                      <a:srgbClr val="2A2A2A"/>
                    </a:solidFill>
                  </a:tcPr>
                </a:tc>
                <a:extLst>
                  <a:ext uri="{0D108BD9-81ED-4DB2-BD59-A6C34878D82A}">
                    <a16:rowId xmlns:a16="http://schemas.microsoft.com/office/drawing/2014/main" val="10006"/>
                  </a:ext>
                </a:extLst>
              </a:tr>
              <a:tr h="292100">
                <a:tc>
                  <a:txBody>
                    <a:bodyPr/>
                    <a:lstStyle/>
                    <a:p>
                      <a:pPr marL="0" indent="0">
                        <a:buNone/>
                      </a:pPr>
                      <a:r>
                        <a:rPr lang="en-US" sz="1400" b="1" dirty="0">
                          <a:solidFill>
                            <a:srgbClr val="F0EDE6"/>
                          </a:solidFill>
                          <a:latin typeface="Calibri" pitchFamily="34" charset="0"/>
                        </a:rPr>
                        <a:t>The Space Resources Engineer</a:t>
                      </a:r>
                    </a:p>
                  </a:txBody>
                  <a:tcPr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marL="0" indent="0">
                        <a:buNone/>
                      </a:pPr>
                      <a:r>
                        <a:rPr lang="en-US" sz="1400" dirty="0">
                          <a:solidFill>
                            <a:srgbClr val="F0EDE6"/>
                          </a:solidFill>
                          <a:latin typeface="Calibri" pitchFamily="34" charset="0"/>
                        </a:rPr>
                        <a:t>ISRU domain accuracy, TRL assessment, evidence gates.</a:t>
                      </a:r>
                    </a:p>
                  </a:txBody>
                  <a:tcPr anchor="ctr">
                    <a:lnL w="0" cap="flat" cmpd="sng" algn="ctr">
                      <a:noFill/>
                    </a:lnL>
                    <a:lnR w="0" cap="flat" cmpd="sng" algn="ctr">
                      <a:noFill/>
                    </a:lnR>
                    <a:lnT w="0" cap="flat" cmpd="sng" algn="ctr">
                      <a:noFill/>
                    </a:lnT>
                    <a:lnB w="0" cap="flat" cmpd="sng" algn="ctr">
                      <a:noFill/>
                    </a:lnB>
                    <a:solidFill>
                      <a:srgbClr val="1E1E1E"/>
                    </a:solidFill>
                  </a:tcPr>
                </a:tc>
                <a:extLst>
                  <a:ext uri="{0D108BD9-81ED-4DB2-BD59-A6C34878D82A}">
                    <a16:rowId xmlns:a16="http://schemas.microsoft.com/office/drawing/2014/main" val="10007"/>
                  </a:ext>
                </a:extLst>
              </a:tr>
              <a:tr h="292100">
                <a:tc>
                  <a:txBody>
                    <a:bodyPr/>
                    <a:lstStyle/>
                    <a:p>
                      <a:pPr marL="0" indent="0">
                        <a:buNone/>
                      </a:pPr>
                      <a:r>
                        <a:rPr lang="en-US" sz="1400" b="1" dirty="0">
                          <a:solidFill>
                            <a:srgbClr val="F0EDE6"/>
                          </a:solidFill>
                          <a:latin typeface="Calibri" pitchFamily="34" charset="0"/>
                        </a:rPr>
                        <a:t>The Editor</a:t>
                      </a:r>
                    </a:p>
                  </a:txBody>
                  <a:tcPr anchor="ctr">
                    <a:lnL w="0" cap="flat" cmpd="sng" algn="ctr">
                      <a:noFill/>
                    </a:lnL>
                    <a:lnR w="0" cap="flat" cmpd="sng" algn="ctr">
                      <a:noFill/>
                    </a:lnR>
                    <a:lnT w="0" cap="flat" cmpd="sng" algn="ctr">
                      <a:noFill/>
                    </a:lnT>
                    <a:lnB w="0" cap="flat" cmpd="sng" algn="ctr">
                      <a:noFill/>
                    </a:lnB>
                    <a:solidFill>
                      <a:srgbClr val="2A2A2A"/>
                    </a:solidFill>
                  </a:tcPr>
                </a:tc>
                <a:tc>
                  <a:txBody>
                    <a:bodyPr/>
                    <a:lstStyle/>
                    <a:p>
                      <a:pPr marL="0" indent="0">
                        <a:buNone/>
                      </a:pPr>
                      <a:r>
                        <a:rPr lang="en-US" sz="1400" dirty="0">
                          <a:solidFill>
                            <a:srgbClr val="F0EDE6"/>
                          </a:solidFill>
                          <a:latin typeface="Calibri" pitchFamily="34" charset="0"/>
                        </a:rPr>
                        <a:t>AI-ism detection, sentence revision, prose tightening.</a:t>
                      </a:r>
                    </a:p>
                  </a:txBody>
                  <a:tcPr anchor="ctr">
                    <a:lnL w="0" cap="flat" cmpd="sng" algn="ctr">
                      <a:noFill/>
                    </a:lnL>
                    <a:lnR w="0" cap="flat" cmpd="sng" algn="ctr">
                      <a:noFill/>
                    </a:lnR>
                    <a:lnT w="0" cap="flat" cmpd="sng" algn="ctr">
                      <a:noFill/>
                    </a:lnT>
                    <a:lnB w="0" cap="flat" cmpd="sng" algn="ctr">
                      <a:noFill/>
                    </a:lnB>
                    <a:solidFill>
                      <a:srgbClr val="2A2A2A"/>
                    </a:solidFill>
                  </a:tcPr>
                </a:tc>
                <a:extLst>
                  <a:ext uri="{0D108BD9-81ED-4DB2-BD59-A6C34878D82A}">
                    <a16:rowId xmlns:a16="http://schemas.microsoft.com/office/drawing/2014/main" val="10008"/>
                  </a:ext>
                </a:extLst>
              </a:tr>
              <a:tr h="292100">
                <a:tc>
                  <a:txBody>
                    <a:bodyPr/>
                    <a:lstStyle/>
                    <a:p>
                      <a:pPr marL="0" indent="0">
                        <a:buNone/>
                      </a:pPr>
                      <a:r>
                        <a:rPr lang="en-US" sz="1400" b="1" dirty="0">
                          <a:solidFill>
                            <a:srgbClr val="F0EDE6"/>
                          </a:solidFill>
                          <a:latin typeface="Calibri" pitchFamily="34" charset="0"/>
                        </a:rPr>
                        <a:t>The Designer</a:t>
                      </a:r>
                    </a:p>
                  </a:txBody>
                  <a:tcPr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marL="0" indent="0">
                        <a:buNone/>
                      </a:pPr>
                      <a:r>
                        <a:rPr lang="en-US" sz="1400" dirty="0">
                          <a:solidFill>
                            <a:srgbClr val="F0EDE6"/>
                          </a:solidFill>
                          <a:latin typeface="Calibri" pitchFamily="34" charset="0"/>
                        </a:rPr>
                        <a:t>Document and product design, echo-site tracking, compliance maps.</a:t>
                      </a:r>
                    </a:p>
                  </a:txBody>
                  <a:tcPr anchor="ctr">
                    <a:lnL w="0" cap="flat" cmpd="sng" algn="ctr">
                      <a:noFill/>
                    </a:lnL>
                    <a:lnR w="0" cap="flat" cmpd="sng" algn="ctr">
                      <a:noFill/>
                    </a:lnR>
                    <a:lnT w="0" cap="flat" cmpd="sng" algn="ctr">
                      <a:noFill/>
                    </a:lnT>
                    <a:lnB w="0" cap="flat" cmpd="sng" algn="ctr">
                      <a:noFill/>
                    </a:lnB>
                    <a:solidFill>
                      <a:srgbClr val="1E1E1E"/>
                    </a:solidFill>
                  </a:tcPr>
                </a:tc>
                <a:extLst>
                  <a:ext uri="{0D108BD9-81ED-4DB2-BD59-A6C34878D82A}">
                    <a16:rowId xmlns:a16="http://schemas.microsoft.com/office/drawing/2014/main" val="10009"/>
                  </a:ext>
                </a:extLst>
              </a:tr>
              <a:tr h="292100">
                <a:tc>
                  <a:txBody>
                    <a:bodyPr/>
                    <a:lstStyle/>
                    <a:p>
                      <a:pPr marL="0" indent="0">
                        <a:buNone/>
                      </a:pPr>
                      <a:r>
                        <a:rPr lang="en-US" sz="1400" b="1" dirty="0">
                          <a:solidFill>
                            <a:srgbClr val="F0EDE6"/>
                          </a:solidFill>
                          <a:latin typeface="Calibri" pitchFamily="34" charset="0"/>
                        </a:rPr>
                        <a:t>The Systems Engineer</a:t>
                      </a:r>
                    </a:p>
                  </a:txBody>
                  <a:tcPr anchor="ctr">
                    <a:lnL w="0" cap="flat" cmpd="sng" algn="ctr">
                      <a:noFill/>
                    </a:lnL>
                    <a:lnR w="0" cap="flat" cmpd="sng" algn="ctr">
                      <a:noFill/>
                    </a:lnR>
                    <a:lnT w="0" cap="flat" cmpd="sng" algn="ctr">
                      <a:noFill/>
                    </a:lnT>
                    <a:lnB w="0" cap="flat" cmpd="sng" algn="ctr">
                      <a:noFill/>
                    </a:lnB>
                    <a:solidFill>
                      <a:srgbClr val="2A2A2A"/>
                    </a:solidFill>
                  </a:tcPr>
                </a:tc>
                <a:tc>
                  <a:txBody>
                    <a:bodyPr/>
                    <a:lstStyle/>
                    <a:p>
                      <a:pPr marL="0" indent="0">
                        <a:buNone/>
                      </a:pPr>
                      <a:r>
                        <a:rPr lang="en-US" sz="1400" dirty="0">
                          <a:solidFill>
                            <a:srgbClr val="F0EDE6"/>
                          </a:solidFill>
                          <a:latin typeface="Calibri" pitchFamily="34" charset="0"/>
                        </a:rPr>
                        <a:t>Conceptual integrity, architecture coherence.</a:t>
                      </a:r>
                    </a:p>
                  </a:txBody>
                  <a:tcPr anchor="ctr">
                    <a:lnL w="0" cap="flat" cmpd="sng" algn="ctr">
                      <a:noFill/>
                    </a:lnL>
                    <a:lnR w="0" cap="flat" cmpd="sng" algn="ctr">
                      <a:noFill/>
                    </a:lnR>
                    <a:lnT w="0" cap="flat" cmpd="sng" algn="ctr">
                      <a:noFill/>
                    </a:lnT>
                    <a:lnB w="0" cap="flat" cmpd="sng" algn="ctr">
                      <a:noFill/>
                    </a:lnB>
                    <a:solidFill>
                      <a:srgbClr val="2A2A2A"/>
                    </a:solidFill>
                  </a:tcPr>
                </a:tc>
                <a:extLst>
                  <a:ext uri="{0D108BD9-81ED-4DB2-BD59-A6C34878D82A}">
                    <a16:rowId xmlns:a16="http://schemas.microsoft.com/office/drawing/2014/main" val="10010"/>
                  </a:ext>
                </a:extLst>
              </a:tr>
              <a:tr h="292100">
                <a:tc>
                  <a:txBody>
                    <a:bodyPr/>
                    <a:lstStyle/>
                    <a:p>
                      <a:pPr marL="0" indent="0">
                        <a:buNone/>
                      </a:pPr>
                      <a:r>
                        <a:rPr lang="en-US" sz="1400" b="1" dirty="0">
                          <a:solidFill>
                            <a:srgbClr val="F0EDE6"/>
                          </a:solidFill>
                          <a:latin typeface="Calibri" pitchFamily="34" charset="0"/>
                        </a:rPr>
                        <a:t>The Recruiter</a:t>
                      </a:r>
                    </a:p>
                  </a:txBody>
                  <a:tcPr anchor="ctr">
                    <a:lnL w="0" cap="flat" cmpd="sng" algn="ctr">
                      <a:noFill/>
                    </a:lnL>
                    <a:lnR w="0" cap="flat" cmpd="sng" algn="ctr">
                      <a:noFill/>
                    </a:lnR>
                    <a:lnT w="0" cap="flat" cmpd="sng" algn="ctr">
                      <a:noFill/>
                    </a:lnT>
                    <a:lnB w="0" cap="flat" cmpd="sng" algn="ctr">
                      <a:noFill/>
                    </a:lnB>
                    <a:solidFill>
                      <a:srgbClr val="1E1E1E"/>
                    </a:solidFill>
                  </a:tcPr>
                </a:tc>
                <a:tc>
                  <a:txBody>
                    <a:bodyPr/>
                    <a:lstStyle/>
                    <a:p>
                      <a:pPr marL="0" indent="0">
                        <a:buNone/>
                      </a:pPr>
                      <a:r>
                        <a:rPr lang="en-US" sz="1400" dirty="0">
                          <a:solidFill>
                            <a:srgbClr val="F0EDE6"/>
                          </a:solidFill>
                          <a:latin typeface="Calibri" pitchFamily="34" charset="0"/>
                        </a:rPr>
                        <a:t>Fills gaps when the roster doesn't cover a domain.</a:t>
                      </a:r>
                    </a:p>
                  </a:txBody>
                  <a:tcPr anchor="ctr">
                    <a:lnL w="0" cap="flat" cmpd="sng" algn="ctr">
                      <a:noFill/>
                    </a:lnL>
                    <a:lnR w="0" cap="flat" cmpd="sng" algn="ctr">
                      <a:noFill/>
                    </a:lnR>
                    <a:lnT w="0" cap="flat" cmpd="sng" algn="ctr">
                      <a:noFill/>
                    </a:lnT>
                    <a:lnB w="0" cap="flat" cmpd="sng" algn="ctr">
                      <a:noFill/>
                    </a:lnB>
                    <a:solidFill>
                      <a:srgbClr val="1E1E1E"/>
                    </a:solidFill>
                  </a:tcPr>
                </a:tc>
                <a:extLst>
                  <a:ext uri="{0D108BD9-81ED-4DB2-BD59-A6C34878D82A}">
                    <a16:rowId xmlns:a16="http://schemas.microsoft.com/office/drawing/2014/main" val="2746688271"/>
                  </a:ext>
                </a:extLst>
              </a:tr>
            </a:tbl>
          </a:graphicData>
        </a:graphic>
      </p:graphicFrame>
    </p:spTree>
    <p:extLst>
      <p:ext uri="{BB962C8B-B14F-4D97-AF65-F5344CB8AC3E}">
        <p14:creationId xmlns:p14="http://schemas.microsoft.com/office/powerpoint/2010/main" val="2881420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Designed conflict &amp; the “pseudo ego”</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82932" y="178072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7" name="Text 5"/>
          <p:cNvSpPr/>
          <p:nvPr/>
        </p:nvSpPr>
        <p:spPr>
          <a:xfrm>
            <a:off x="582932" y="178072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Manager</a:t>
            </a:r>
            <a:endParaRPr lang="en-US" sz="1600" dirty="0"/>
          </a:p>
        </p:txBody>
      </p:sp>
      <p:sp>
        <p:nvSpPr>
          <p:cNvPr id="8" name="Text 6"/>
          <p:cNvSpPr/>
          <p:nvPr/>
        </p:nvSpPr>
        <p:spPr>
          <a:xfrm>
            <a:off x="2228852" y="1780728"/>
            <a:ext cx="508000" cy="508000"/>
          </a:xfrm>
          <a:prstGeom prst="rect">
            <a:avLst/>
          </a:prstGeom>
          <a:noFill/>
          <a:ln/>
        </p:spPr>
        <p:txBody>
          <a:bodyPr wrap="square" rtlCol="0" anchor="ctr"/>
          <a:lstStyle/>
          <a:p>
            <a:pPr marL="0" indent="0" algn="ctr">
              <a:buNone/>
            </a:pPr>
            <a:r>
              <a:rPr lang="en-US" sz="1600" dirty="0">
                <a:solidFill>
                  <a:srgbClr val="C87941"/>
                </a:solidFill>
                <a:latin typeface="Calibri" pitchFamily="34" charset="0"/>
                <a:ea typeface="Calibri" pitchFamily="34" charset="-122"/>
                <a:cs typeface="Calibri" pitchFamily="34" charset="-120"/>
              </a:rPr>
              <a:t>vs.</a:t>
            </a:r>
            <a:endParaRPr lang="en-US" sz="1600" dirty="0"/>
          </a:p>
        </p:txBody>
      </p:sp>
      <p:sp>
        <p:nvSpPr>
          <p:cNvPr id="9" name="Shape 7"/>
          <p:cNvSpPr/>
          <p:nvPr/>
        </p:nvSpPr>
        <p:spPr>
          <a:xfrm>
            <a:off x="2787652" y="178072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10" name="Text 8"/>
          <p:cNvSpPr/>
          <p:nvPr/>
        </p:nvSpPr>
        <p:spPr>
          <a:xfrm>
            <a:off x="2787652" y="178072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Systems</a:t>
            </a:r>
            <a:endParaRPr lang="en-US" sz="1600" dirty="0"/>
          </a:p>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Engineer</a:t>
            </a:r>
            <a:endParaRPr lang="en-US" sz="1600" dirty="0"/>
          </a:p>
        </p:txBody>
      </p:sp>
      <p:sp>
        <p:nvSpPr>
          <p:cNvPr id="12" name="Shape 10"/>
          <p:cNvSpPr/>
          <p:nvPr/>
        </p:nvSpPr>
        <p:spPr>
          <a:xfrm>
            <a:off x="582932" y="238397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13" name="Text 11"/>
          <p:cNvSpPr/>
          <p:nvPr/>
        </p:nvSpPr>
        <p:spPr>
          <a:xfrm>
            <a:off x="582932" y="238397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Space Resources Engineer</a:t>
            </a:r>
            <a:endParaRPr lang="en-US" sz="1600" dirty="0"/>
          </a:p>
        </p:txBody>
      </p:sp>
      <p:sp>
        <p:nvSpPr>
          <p:cNvPr id="14" name="Text 12"/>
          <p:cNvSpPr/>
          <p:nvPr/>
        </p:nvSpPr>
        <p:spPr>
          <a:xfrm>
            <a:off x="2228852" y="2383978"/>
            <a:ext cx="508000" cy="508000"/>
          </a:xfrm>
          <a:prstGeom prst="rect">
            <a:avLst/>
          </a:prstGeom>
          <a:noFill/>
          <a:ln/>
        </p:spPr>
        <p:txBody>
          <a:bodyPr wrap="square" rtlCol="0" anchor="ctr"/>
          <a:lstStyle/>
          <a:p>
            <a:pPr marL="0" indent="0" algn="ctr">
              <a:buNone/>
            </a:pPr>
            <a:r>
              <a:rPr lang="en-US" sz="1600" dirty="0">
                <a:solidFill>
                  <a:srgbClr val="C87941"/>
                </a:solidFill>
                <a:latin typeface="Calibri" pitchFamily="34" charset="0"/>
                <a:ea typeface="Calibri" pitchFamily="34" charset="-122"/>
                <a:cs typeface="Calibri" pitchFamily="34" charset="-120"/>
              </a:rPr>
              <a:t>vs.</a:t>
            </a:r>
            <a:endParaRPr lang="en-US" sz="1600" dirty="0"/>
          </a:p>
        </p:txBody>
      </p:sp>
      <p:sp>
        <p:nvSpPr>
          <p:cNvPr id="15" name="Shape 13"/>
          <p:cNvSpPr/>
          <p:nvPr/>
        </p:nvSpPr>
        <p:spPr>
          <a:xfrm>
            <a:off x="2787652" y="238397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16" name="Text 14"/>
          <p:cNvSpPr/>
          <p:nvPr/>
        </p:nvSpPr>
        <p:spPr>
          <a:xfrm>
            <a:off x="2787652" y="238397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Engineer</a:t>
            </a:r>
            <a:endParaRPr lang="en-US" sz="1600" dirty="0"/>
          </a:p>
        </p:txBody>
      </p:sp>
      <p:sp>
        <p:nvSpPr>
          <p:cNvPr id="18" name="Shape 16"/>
          <p:cNvSpPr/>
          <p:nvPr/>
        </p:nvSpPr>
        <p:spPr>
          <a:xfrm>
            <a:off x="582932" y="298722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19" name="Text 17"/>
          <p:cNvSpPr/>
          <p:nvPr/>
        </p:nvSpPr>
        <p:spPr>
          <a:xfrm>
            <a:off x="582932" y="298722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Loftsman</a:t>
            </a:r>
            <a:endParaRPr lang="en-US" sz="1600" dirty="0"/>
          </a:p>
        </p:txBody>
      </p:sp>
      <p:sp>
        <p:nvSpPr>
          <p:cNvPr id="20" name="Text 18"/>
          <p:cNvSpPr/>
          <p:nvPr/>
        </p:nvSpPr>
        <p:spPr>
          <a:xfrm>
            <a:off x="2228852" y="2987228"/>
            <a:ext cx="508000" cy="508000"/>
          </a:xfrm>
          <a:prstGeom prst="rect">
            <a:avLst/>
          </a:prstGeom>
          <a:noFill/>
          <a:ln/>
        </p:spPr>
        <p:txBody>
          <a:bodyPr wrap="square" rtlCol="0" anchor="ctr"/>
          <a:lstStyle/>
          <a:p>
            <a:pPr marL="0" indent="0" algn="ctr">
              <a:buNone/>
            </a:pPr>
            <a:r>
              <a:rPr lang="en-US" sz="1600" dirty="0">
                <a:solidFill>
                  <a:srgbClr val="C87941"/>
                </a:solidFill>
                <a:latin typeface="Calibri" pitchFamily="34" charset="0"/>
                <a:ea typeface="Calibri" pitchFamily="34" charset="-122"/>
                <a:cs typeface="Calibri" pitchFamily="34" charset="-120"/>
              </a:rPr>
              <a:t>vs.</a:t>
            </a:r>
            <a:endParaRPr lang="en-US" sz="1600" dirty="0"/>
          </a:p>
        </p:txBody>
      </p:sp>
      <p:sp>
        <p:nvSpPr>
          <p:cNvPr id="21" name="Shape 19"/>
          <p:cNvSpPr/>
          <p:nvPr/>
        </p:nvSpPr>
        <p:spPr>
          <a:xfrm>
            <a:off x="2787652" y="298722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22" name="Text 20"/>
          <p:cNvSpPr/>
          <p:nvPr/>
        </p:nvSpPr>
        <p:spPr>
          <a:xfrm>
            <a:off x="2787652" y="298722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Topologist</a:t>
            </a:r>
            <a:endParaRPr lang="en-US" sz="1600" dirty="0"/>
          </a:p>
        </p:txBody>
      </p:sp>
      <p:sp>
        <p:nvSpPr>
          <p:cNvPr id="24" name="Shape 22"/>
          <p:cNvSpPr/>
          <p:nvPr/>
        </p:nvSpPr>
        <p:spPr>
          <a:xfrm>
            <a:off x="582932" y="359047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25" name="Text 23"/>
          <p:cNvSpPr/>
          <p:nvPr/>
        </p:nvSpPr>
        <p:spPr>
          <a:xfrm>
            <a:off x="582932" y="359047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Designer</a:t>
            </a:r>
            <a:endParaRPr lang="en-US" sz="1600" dirty="0"/>
          </a:p>
        </p:txBody>
      </p:sp>
      <p:sp>
        <p:nvSpPr>
          <p:cNvPr id="26" name="Text 24"/>
          <p:cNvSpPr/>
          <p:nvPr/>
        </p:nvSpPr>
        <p:spPr>
          <a:xfrm>
            <a:off x="2228852" y="3590478"/>
            <a:ext cx="508000" cy="508000"/>
          </a:xfrm>
          <a:prstGeom prst="rect">
            <a:avLst/>
          </a:prstGeom>
          <a:noFill/>
          <a:ln/>
        </p:spPr>
        <p:txBody>
          <a:bodyPr wrap="square" rtlCol="0" anchor="ctr"/>
          <a:lstStyle/>
          <a:p>
            <a:pPr marL="0" indent="0" algn="ctr">
              <a:buNone/>
            </a:pPr>
            <a:r>
              <a:rPr lang="en-US" sz="1600" dirty="0">
                <a:solidFill>
                  <a:srgbClr val="C87941"/>
                </a:solidFill>
                <a:latin typeface="Calibri" pitchFamily="34" charset="0"/>
                <a:ea typeface="Calibri" pitchFamily="34" charset="-122"/>
                <a:cs typeface="Calibri" pitchFamily="34" charset="-120"/>
              </a:rPr>
              <a:t>vs.</a:t>
            </a:r>
            <a:endParaRPr lang="en-US" sz="1600" dirty="0"/>
          </a:p>
        </p:txBody>
      </p:sp>
      <p:sp>
        <p:nvSpPr>
          <p:cNvPr id="27" name="Shape 25"/>
          <p:cNvSpPr/>
          <p:nvPr/>
        </p:nvSpPr>
        <p:spPr>
          <a:xfrm>
            <a:off x="2787652" y="359047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28" name="Text 26"/>
          <p:cNvSpPr/>
          <p:nvPr/>
        </p:nvSpPr>
        <p:spPr>
          <a:xfrm>
            <a:off x="2787652" y="359047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Engineer</a:t>
            </a:r>
            <a:endParaRPr lang="en-US" sz="1600" dirty="0"/>
          </a:p>
        </p:txBody>
      </p:sp>
      <p:sp>
        <p:nvSpPr>
          <p:cNvPr id="30" name="Shape 28"/>
          <p:cNvSpPr/>
          <p:nvPr/>
        </p:nvSpPr>
        <p:spPr>
          <a:xfrm>
            <a:off x="582932" y="419372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31" name="Text 29"/>
          <p:cNvSpPr/>
          <p:nvPr/>
        </p:nvSpPr>
        <p:spPr>
          <a:xfrm>
            <a:off x="582932" y="419372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Editor</a:t>
            </a:r>
            <a:endParaRPr lang="en-US" sz="1600" dirty="0"/>
          </a:p>
        </p:txBody>
      </p:sp>
      <p:sp>
        <p:nvSpPr>
          <p:cNvPr id="32" name="Text 30"/>
          <p:cNvSpPr/>
          <p:nvPr/>
        </p:nvSpPr>
        <p:spPr>
          <a:xfrm>
            <a:off x="2228852" y="4193728"/>
            <a:ext cx="508000" cy="508000"/>
          </a:xfrm>
          <a:prstGeom prst="rect">
            <a:avLst/>
          </a:prstGeom>
          <a:noFill/>
          <a:ln/>
        </p:spPr>
        <p:txBody>
          <a:bodyPr wrap="square" rtlCol="0" anchor="ctr"/>
          <a:lstStyle/>
          <a:p>
            <a:pPr marL="0" indent="0" algn="ctr">
              <a:buNone/>
            </a:pPr>
            <a:r>
              <a:rPr lang="en-US" sz="1600" dirty="0">
                <a:solidFill>
                  <a:srgbClr val="C87941"/>
                </a:solidFill>
                <a:latin typeface="Calibri" pitchFamily="34" charset="0"/>
                <a:ea typeface="Calibri" pitchFamily="34" charset="-122"/>
                <a:cs typeface="Calibri" pitchFamily="34" charset="-120"/>
              </a:rPr>
              <a:t>vs.</a:t>
            </a:r>
            <a:endParaRPr lang="en-US" sz="1600" dirty="0"/>
          </a:p>
        </p:txBody>
      </p:sp>
      <p:sp>
        <p:nvSpPr>
          <p:cNvPr id="33" name="Shape 31"/>
          <p:cNvSpPr/>
          <p:nvPr/>
        </p:nvSpPr>
        <p:spPr>
          <a:xfrm>
            <a:off x="2787652" y="4193728"/>
            <a:ext cx="1554480" cy="508000"/>
          </a:xfrm>
          <a:prstGeom prst="rect">
            <a:avLst/>
          </a:prstGeom>
          <a:solidFill>
            <a:srgbClr val="1A1917"/>
          </a:solidFill>
          <a:ln w="6350">
            <a:solidFill>
              <a:srgbClr val="2A2826"/>
            </a:solidFill>
            <a:prstDash val="solid"/>
          </a:ln>
        </p:spPr>
        <p:txBody>
          <a:bodyPr/>
          <a:lstStyle/>
          <a:p>
            <a:endParaRPr lang="en-US" sz="3600"/>
          </a:p>
        </p:txBody>
      </p:sp>
      <p:sp>
        <p:nvSpPr>
          <p:cNvPr id="34" name="Text 32"/>
          <p:cNvSpPr/>
          <p:nvPr/>
        </p:nvSpPr>
        <p:spPr>
          <a:xfrm>
            <a:off x="2787652" y="4193728"/>
            <a:ext cx="1554480" cy="508000"/>
          </a:xfrm>
          <a:prstGeom prst="rect">
            <a:avLst/>
          </a:prstGeom>
          <a:noFill/>
          <a:ln/>
        </p:spPr>
        <p:txBody>
          <a:bodyPr wrap="square" rtlCol="0" anchor="ctr"/>
          <a:lstStyle/>
          <a:p>
            <a:pPr marL="0" indent="0" algn="ctr">
              <a:lnSpc>
                <a:spcPct val="90000"/>
              </a:lnSpc>
              <a:buNone/>
            </a:pPr>
            <a:r>
              <a:rPr lang="en-US" sz="1600" dirty="0">
                <a:solidFill>
                  <a:srgbClr val="F0EDE6"/>
                </a:solidFill>
                <a:latin typeface="Calibri" pitchFamily="34" charset="0"/>
                <a:ea typeface="Calibri" pitchFamily="34" charset="-122"/>
                <a:cs typeface="Calibri" pitchFamily="34" charset="-120"/>
              </a:rPr>
              <a:t>Designer</a:t>
            </a:r>
            <a:endParaRPr lang="en-US" sz="1600" dirty="0"/>
          </a:p>
        </p:txBody>
      </p:sp>
      <p:sp>
        <p:nvSpPr>
          <p:cNvPr id="40" name="AccumBg"/>
          <p:cNvSpPr/>
          <p:nvPr/>
        </p:nvSpPr>
        <p:spPr>
          <a:xfrm>
            <a:off x="4806950" y="1364344"/>
            <a:ext cx="3683000" cy="3429000"/>
          </a:xfrm>
          <a:prstGeom prst="roundRect">
            <a:avLst>
              <a:gd name="adj" fmla="val 3000"/>
            </a:avLst>
          </a:prstGeom>
          <a:solidFill>
            <a:srgbClr val="1E1E1E"/>
          </a:solidFill>
          <a:ln w="12700">
            <a:noFill/>
          </a:ln>
        </p:spPr>
        <p:txBody>
          <a:bodyPr wrap="square" lIns="0" tIns="0" rIns="0" bIns="0"/>
          <a:lstStyle/>
          <a:p>
            <a:endParaRPr lang="en-US"/>
          </a:p>
        </p:txBody>
      </p:sp>
      <p:sp>
        <p:nvSpPr>
          <p:cNvPr id="41" name="AccumText"/>
          <p:cNvSpPr/>
          <p:nvPr/>
        </p:nvSpPr>
        <p:spPr>
          <a:xfrm>
            <a:off x="4914900" y="1465944"/>
            <a:ext cx="3378200" cy="3225800"/>
          </a:xfrm>
          <a:prstGeom prst="rect">
            <a:avLst/>
          </a:prstGeom>
          <a:noFill/>
          <a:ln>
            <a:noFill/>
          </a:ln>
        </p:spPr>
        <p:txBody>
          <a:bodyPr wrap="square" lIns="0" tIns="0" rIns="0" bIns="0"/>
          <a:lstStyle/>
          <a:p>
            <a:pPr marL="0" indent="0">
              <a:spcAft>
                <a:spcPts val="1600"/>
              </a:spcAft>
              <a:buNone/>
            </a:pPr>
            <a:r>
              <a:rPr lang="en-US" sz="1600" b="1" dirty="0">
                <a:solidFill>
                  <a:srgbClr val="C87941"/>
                </a:solidFill>
                <a:latin typeface="Calibri" pitchFamily="34" charset="0"/>
              </a:rPr>
              <a:t>The pseudo ego</a:t>
            </a:r>
          </a:p>
          <a:p>
            <a:pPr marL="0" indent="0">
              <a:spcAft>
                <a:spcPts val="1600"/>
              </a:spcAft>
              <a:buNone/>
            </a:pPr>
            <a:r>
              <a:rPr lang="en-US" sz="1600" dirty="0">
                <a:solidFill>
                  <a:srgbClr val="F0EDE6"/>
                </a:solidFill>
                <a:latin typeface="Calibri" pitchFamily="34" charset="0"/>
              </a:rPr>
              <a:t>The “accumulator” is a file-based working history of contributions accepted, corrections received, and positions taken by each persona.</a:t>
            </a:r>
          </a:p>
          <a:p>
            <a:pPr marL="0" indent="0">
              <a:spcAft>
                <a:spcPts val="1600"/>
              </a:spcAft>
              <a:buNone/>
            </a:pPr>
            <a:r>
              <a:rPr lang="en-US" sz="2000" i="1" dirty="0">
                <a:solidFill>
                  <a:srgbClr val="AAAAAA"/>
                </a:solidFill>
                <a:latin typeface="Calibri" pitchFamily="34" charset="0"/>
              </a:rPr>
              <a:t>The effect: personas develop calibrated voices which accumulate project-specific knowledge across spawns.</a:t>
            </a:r>
          </a:p>
        </p:txBody>
      </p:sp>
      <p:sp>
        <p:nvSpPr>
          <p:cNvPr id="42" name="LeftHeading"/>
          <p:cNvSpPr/>
          <p:nvPr/>
        </p:nvSpPr>
        <p:spPr>
          <a:xfrm>
            <a:off x="577852" y="1359452"/>
            <a:ext cx="3759200" cy="299720"/>
          </a:xfrm>
          <a:prstGeom prst="rect">
            <a:avLst/>
          </a:prstGeom>
          <a:noFill/>
          <a:ln>
            <a:noFill/>
          </a:ln>
        </p:spPr>
        <p:txBody>
          <a:bodyPr wrap="square" lIns="0" tIns="0" rIns="0" bIns="0" anchor="b"/>
          <a:lstStyle/>
          <a:p>
            <a:pPr marL="0" indent="0">
              <a:buNone/>
            </a:pPr>
            <a:r>
              <a:rPr lang="en-US" sz="1600" b="1" dirty="0">
                <a:solidFill>
                  <a:srgbClr val="C87941"/>
                </a:solidFill>
                <a:latin typeface="Calibri" pitchFamily="34" charset="0"/>
              </a:rPr>
              <a:t>Designed tensions</a:t>
            </a:r>
          </a:p>
        </p:txBody>
      </p:sp>
      <p:sp>
        <p:nvSpPr>
          <p:cNvPr id="43" name="VertRule"/>
          <p:cNvSpPr/>
          <p:nvPr/>
        </p:nvSpPr>
        <p:spPr>
          <a:xfrm>
            <a:off x="4572000" y="1397000"/>
            <a:ext cx="12700" cy="3429000"/>
          </a:xfrm>
          <a:prstGeom prst="rect">
            <a:avLst/>
          </a:prstGeom>
          <a:solidFill>
            <a:srgbClr val="C87941"/>
          </a:solidFill>
          <a:ln>
            <a:noFill/>
          </a:ln>
        </p:spPr>
        <p:txBody>
          <a:bodyPr/>
          <a:lstStyle/>
          <a:p>
            <a:endParaRPr lang="en-US"/>
          </a:p>
        </p:txBody>
      </p:sp>
    </p:spTree>
    <p:extLst>
      <p:ext uri="{BB962C8B-B14F-4D97-AF65-F5344CB8AC3E}">
        <p14:creationId xmlns:p14="http://schemas.microsoft.com/office/powerpoint/2010/main" val="2589647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Flute Test-Case</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10</a:t>
            </a:r>
            <a:endParaRPr lang="en-US" sz="1000" dirty="0"/>
          </a:p>
        </p:txBody>
      </p:sp>
      <p:sp>
        <p:nvSpPr>
          <p:cNvPr id="10" name="SubtitleText"/>
          <p:cNvSpPr/>
          <p:nvPr/>
        </p:nvSpPr>
        <p:spPr>
          <a:xfrm>
            <a:off x="635000" y="1007836"/>
            <a:ext cx="7861300" cy="994664"/>
          </a:xfrm>
          <a:prstGeom prst="rect">
            <a:avLst/>
          </a:prstGeom>
          <a:noFill/>
          <a:ln>
            <a:noFill/>
          </a:ln>
        </p:spPr>
        <p:txBody>
          <a:bodyPr wrap="square" lIns="0" tIns="0" rIns="0" bIns="0" anchor="ctr"/>
          <a:lstStyle/>
          <a:p>
            <a:pPr marL="0" indent="0">
              <a:spcAft>
                <a:spcPts val="1000"/>
              </a:spcAft>
              <a:buNone/>
            </a:pPr>
            <a:r>
              <a:rPr lang="en-US" sz="1600" b="1" i="1" dirty="0">
                <a:solidFill>
                  <a:srgbClr val="AAAAAA"/>
                </a:solidFill>
                <a:latin typeface="Calibri" pitchFamily="34" charset="0"/>
              </a:rPr>
              <a:t>“Design a bass recorder in F with Earth and Mars structural variants, full 3D FEM solver in Python, and CadQuery parametric CAD.”</a:t>
            </a:r>
          </a:p>
          <a:p>
            <a:pPr marL="0" indent="0">
              <a:buNone/>
            </a:pPr>
            <a:r>
              <a:rPr lang="en-US" sz="1600" b="1" i="1" dirty="0">
                <a:solidFill>
                  <a:srgbClr val="AAAAAA"/>
                </a:solidFill>
                <a:latin typeface="Calibri" pitchFamily="34" charset="0"/>
              </a:rPr>
              <a:t>“… Oh, by the way, it needs to support an 80 kg human when used to bridge a crevasse.”</a:t>
            </a:r>
          </a:p>
        </p:txBody>
      </p:sp>
      <p:sp>
        <p:nvSpPr>
          <p:cNvPr id="20" name="LeftHeaderBg"/>
          <p:cNvSpPr/>
          <p:nvPr/>
        </p:nvSpPr>
        <p:spPr>
          <a:xfrm>
            <a:off x="563333" y="2051056"/>
            <a:ext cx="4008667" cy="406400"/>
          </a:xfrm>
          <a:prstGeom prst="rect">
            <a:avLst/>
          </a:prstGeom>
          <a:solidFill>
            <a:srgbClr val="C87941"/>
          </a:solidFill>
          <a:ln>
            <a:noFill/>
          </a:ln>
        </p:spPr>
        <p:txBody>
          <a:bodyPr/>
          <a:lstStyle/>
          <a:p>
            <a:endParaRPr lang="en-US" sz="2400"/>
          </a:p>
        </p:txBody>
      </p:sp>
      <p:sp>
        <p:nvSpPr>
          <p:cNvPr id="21" name="LeftHeaderText"/>
          <p:cNvSpPr/>
          <p:nvPr/>
        </p:nvSpPr>
        <p:spPr>
          <a:xfrm>
            <a:off x="569688" y="2051056"/>
            <a:ext cx="4002312" cy="406400"/>
          </a:xfrm>
          <a:prstGeom prst="rect">
            <a:avLst/>
          </a:prstGeom>
          <a:noFill/>
          <a:ln>
            <a:noFill/>
          </a:ln>
        </p:spPr>
        <p:txBody>
          <a:bodyPr wrap="square" lIns="101600" tIns="0" rIns="101600" bIns="0" anchor="ctr"/>
          <a:lstStyle/>
          <a:p>
            <a:pPr marL="0" indent="0" algn="ctr">
              <a:buNone/>
            </a:pPr>
            <a:r>
              <a:rPr lang="en-US" b="1" dirty="0">
                <a:latin typeface="Calibri" pitchFamily="34" charset="0"/>
              </a:rPr>
              <a:t>Session A — Quinn method</a:t>
            </a:r>
          </a:p>
        </p:txBody>
      </p:sp>
      <p:sp>
        <p:nvSpPr>
          <p:cNvPr id="22" name="RightHeaderBg"/>
          <p:cNvSpPr/>
          <p:nvPr/>
        </p:nvSpPr>
        <p:spPr>
          <a:xfrm>
            <a:off x="4815112" y="2051056"/>
            <a:ext cx="3759200" cy="406400"/>
          </a:xfrm>
          <a:prstGeom prst="rect">
            <a:avLst/>
          </a:prstGeom>
          <a:solidFill>
            <a:srgbClr val="2A2A2A"/>
          </a:solidFill>
          <a:ln>
            <a:noFill/>
          </a:ln>
        </p:spPr>
        <p:txBody>
          <a:bodyPr/>
          <a:lstStyle/>
          <a:p>
            <a:endParaRPr lang="en-US" sz="2400"/>
          </a:p>
        </p:txBody>
      </p:sp>
      <p:sp>
        <p:nvSpPr>
          <p:cNvPr id="23" name="RightHeaderText"/>
          <p:cNvSpPr/>
          <p:nvPr/>
        </p:nvSpPr>
        <p:spPr>
          <a:xfrm>
            <a:off x="4815112" y="2051056"/>
            <a:ext cx="3759200" cy="406400"/>
          </a:xfrm>
          <a:prstGeom prst="rect">
            <a:avLst/>
          </a:prstGeom>
          <a:noFill/>
          <a:ln>
            <a:noFill/>
          </a:ln>
        </p:spPr>
        <p:txBody>
          <a:bodyPr wrap="square" lIns="101600" tIns="0" rIns="101600" bIns="0" anchor="ctr"/>
          <a:lstStyle/>
          <a:p>
            <a:pPr marL="0" indent="0" algn="ctr">
              <a:buNone/>
            </a:pPr>
            <a:r>
              <a:rPr lang="en-US" b="1" dirty="0">
                <a:solidFill>
                  <a:srgbClr val="F0EDE6"/>
                </a:solidFill>
                <a:latin typeface="Calibri" pitchFamily="34" charset="0"/>
              </a:rPr>
              <a:t>Session B — </a:t>
            </a:r>
            <a:r>
              <a:rPr lang="en-US" b="1" dirty="0">
                <a:solidFill>
                  <a:srgbClr val="F0EDE6"/>
                </a:solidFill>
                <a:latin typeface="Calibri" pitchFamily="34" charset="0"/>
                <a:hlinkClick r:id="rId3"/>
              </a:rPr>
              <a:t>Stuart method</a:t>
            </a:r>
            <a:endParaRPr lang="en-US" b="1" dirty="0">
              <a:solidFill>
                <a:srgbClr val="F0EDE6"/>
              </a:solidFill>
              <a:latin typeface="Calibri" pitchFamily="34" charset="0"/>
            </a:endParaRPr>
          </a:p>
        </p:txBody>
      </p:sp>
      <p:sp>
        <p:nvSpPr>
          <p:cNvPr id="30" name="LeftBody"/>
          <p:cNvSpPr/>
          <p:nvPr/>
        </p:nvSpPr>
        <p:spPr>
          <a:xfrm>
            <a:off x="530677" y="2520956"/>
            <a:ext cx="4163785" cy="2462524"/>
          </a:xfrm>
          <a:prstGeom prst="rect">
            <a:avLst/>
          </a:prstGeom>
          <a:noFill/>
          <a:ln>
            <a:noFill/>
          </a:ln>
        </p:spPr>
        <p:txBody>
          <a:bodyPr wrap="square" lIns="101600" tIns="50800" rIns="101600" bIns="50800" anchor="t"/>
          <a:lstStyle/>
          <a:p>
            <a:pPr marL="0" indent="0">
              <a:spcAft>
                <a:spcPts val="100"/>
              </a:spcAft>
              <a:buNone/>
            </a:pPr>
            <a:r>
              <a:rPr lang="en-US" sz="1600" b="1" dirty="0">
                <a:solidFill>
                  <a:srgbClr val="C87941"/>
                </a:solidFill>
                <a:latin typeface="Calibri" pitchFamily="34" charset="0"/>
              </a:rPr>
              <a:t>Technical depth</a:t>
            </a:r>
          </a:p>
          <a:p>
            <a:pPr marL="171450" indent="-171450">
              <a:buFont typeface="Arial"/>
              <a:buChar char="•"/>
            </a:pPr>
            <a:r>
              <a:rPr lang="en-US" sz="1600" dirty="0">
                <a:solidFill>
                  <a:srgbClr val="F0EDE6"/>
                </a:solidFill>
                <a:latin typeface="Calibri" pitchFamily="34" charset="0"/>
              </a:rPr>
              <a:t>Tet10 quadratic elements, </a:t>
            </a:r>
            <a:r>
              <a:rPr lang="en-US" sz="1600" dirty="0" err="1">
                <a:solidFill>
                  <a:srgbClr val="F0EDE6"/>
                </a:solidFill>
                <a:latin typeface="Calibri" pitchFamily="34" charset="0"/>
              </a:rPr>
              <a:t>Gmsh</a:t>
            </a:r>
            <a:r>
              <a:rPr lang="en-US" sz="1600" dirty="0">
                <a:solidFill>
                  <a:srgbClr val="F0EDE6"/>
                </a:solidFill>
                <a:latin typeface="Calibri" pitchFamily="34" charset="0"/>
              </a:rPr>
              <a:t> mesh (4 </a:t>
            </a:r>
            <a:r>
              <a:rPr lang="en-US" sz="1600" dirty="0" err="1">
                <a:solidFill>
                  <a:srgbClr val="F0EDE6"/>
                </a:solidFill>
                <a:latin typeface="Calibri" pitchFamily="34" charset="0"/>
              </a:rPr>
              <a:t>hrs</a:t>
            </a:r>
            <a:r>
              <a:rPr lang="en-US" sz="1600" dirty="0">
                <a:solidFill>
                  <a:srgbClr val="F0EDE6"/>
                </a:solidFill>
                <a:latin typeface="Calibri" pitchFamily="34" charset="0"/>
              </a:rPr>
              <a:t>)</a:t>
            </a:r>
          </a:p>
          <a:p>
            <a:pPr marL="171450" indent="-171450">
              <a:buFont typeface="Arial"/>
              <a:buChar char="•"/>
            </a:pPr>
            <a:r>
              <a:rPr lang="en-US" sz="1600" dirty="0">
                <a:solidFill>
                  <a:srgbClr val="F0EDE6"/>
                </a:solidFill>
                <a:latin typeface="Calibri" pitchFamily="34" charset="0"/>
              </a:rPr>
              <a:t>5 verification cases </a:t>
            </a:r>
          </a:p>
          <a:p>
            <a:pPr marL="171450" indent="-171450">
              <a:buFont typeface="Arial"/>
              <a:buChar char="•"/>
            </a:pPr>
            <a:r>
              <a:rPr lang="en-US" sz="1600" dirty="0">
                <a:solidFill>
                  <a:srgbClr val="F0EDE6"/>
                </a:solidFill>
                <a:latin typeface="Calibri" pitchFamily="34" charset="0"/>
              </a:rPr>
              <a:t>Mesh convergence study (3 densities)</a:t>
            </a:r>
          </a:p>
          <a:p>
            <a:pPr marL="171450" indent="-171450">
              <a:buFont typeface="Arial"/>
              <a:buChar char="•"/>
            </a:pPr>
            <a:r>
              <a:rPr lang="en-US" sz="1600" dirty="0">
                <a:solidFill>
                  <a:srgbClr val="F0EDE6"/>
                </a:solidFill>
                <a:latin typeface="Calibri" pitchFamily="34" charset="0"/>
              </a:rPr>
              <a:t>Caught acoustic-structural coupling</a:t>
            </a:r>
          </a:p>
          <a:p>
            <a:pPr marL="171450" indent="-171450">
              <a:spcAft>
                <a:spcPts val="1000"/>
              </a:spcAft>
              <a:buFont typeface="Arial"/>
              <a:buChar char="•"/>
            </a:pPr>
            <a:r>
              <a:rPr lang="en-US" sz="1600" dirty="0">
                <a:solidFill>
                  <a:srgbClr val="F0EDE6"/>
                </a:solidFill>
                <a:latin typeface="Calibri" pitchFamily="34" charset="0"/>
              </a:rPr>
              <a:t>Mars Factor of Safety </a:t>
            </a:r>
            <a:r>
              <a:rPr lang="en-US" sz="1600" b="1" dirty="0">
                <a:solidFill>
                  <a:srgbClr val="00B050"/>
                </a:solidFill>
                <a:latin typeface="Calibri" pitchFamily="34" charset="0"/>
              </a:rPr>
              <a:t>2.35</a:t>
            </a:r>
            <a:r>
              <a:rPr lang="en-US" sz="1600" dirty="0">
                <a:solidFill>
                  <a:srgbClr val="F0EDE6"/>
                </a:solidFill>
                <a:latin typeface="Calibri" pitchFamily="34" charset="0"/>
              </a:rPr>
              <a:t> (near 2.0 target)</a:t>
            </a:r>
          </a:p>
          <a:p>
            <a:pPr marL="0" indent="0">
              <a:spcAft>
                <a:spcPts val="100"/>
              </a:spcAft>
              <a:buNone/>
            </a:pPr>
            <a:r>
              <a:rPr lang="en-US" sz="1600" b="1" dirty="0">
                <a:solidFill>
                  <a:srgbClr val="C87941"/>
                </a:solidFill>
                <a:latin typeface="Calibri" pitchFamily="34" charset="0"/>
              </a:rPr>
              <a:t>Cost</a:t>
            </a:r>
          </a:p>
          <a:p>
            <a:pPr marL="171450" indent="-171450">
              <a:buFont typeface="Arial"/>
              <a:buChar char="•"/>
            </a:pPr>
            <a:r>
              <a:rPr lang="en-US" sz="1600" dirty="0">
                <a:solidFill>
                  <a:srgbClr val="AAAAAA"/>
                </a:solidFill>
                <a:latin typeface="Calibri" pitchFamily="34" charset="0"/>
              </a:rPr>
              <a:t>11.5 hrs active, 7 compactions</a:t>
            </a:r>
          </a:p>
          <a:p>
            <a:pPr marL="171450" indent="-171450">
              <a:buFont typeface="Arial"/>
              <a:buChar char="•"/>
            </a:pPr>
            <a:r>
              <a:rPr lang="en-US" sz="1600" b="1" dirty="0">
                <a:solidFill>
                  <a:srgbClr val="AAAAAA"/>
                </a:solidFill>
                <a:latin typeface="Calibri" pitchFamily="34" charset="0"/>
              </a:rPr>
              <a:t>35 MB context</a:t>
            </a:r>
            <a:r>
              <a:rPr lang="en-US" sz="1600" dirty="0">
                <a:solidFill>
                  <a:srgbClr val="AAAAAA"/>
                </a:solidFill>
                <a:latin typeface="Calibri" pitchFamily="34" charset="0"/>
              </a:rPr>
              <a:t>, 325 LOC/</a:t>
            </a:r>
            <a:r>
              <a:rPr lang="en-US" sz="1600" dirty="0" err="1">
                <a:solidFill>
                  <a:srgbClr val="AAAAAA"/>
                </a:solidFill>
                <a:latin typeface="Calibri" pitchFamily="34" charset="0"/>
              </a:rPr>
              <a:t>hr</a:t>
            </a:r>
            <a:r>
              <a:rPr lang="en-US" sz="1600" dirty="0">
                <a:solidFill>
                  <a:srgbClr val="AAAAAA"/>
                </a:solidFill>
                <a:latin typeface="Calibri" pitchFamily="34" charset="0"/>
              </a:rPr>
              <a:t> (5,246 LOC total)</a:t>
            </a:r>
          </a:p>
        </p:txBody>
      </p:sp>
      <p:sp>
        <p:nvSpPr>
          <p:cNvPr id="31" name="RightBody"/>
          <p:cNvSpPr/>
          <p:nvPr/>
        </p:nvSpPr>
        <p:spPr>
          <a:xfrm>
            <a:off x="4806948" y="2520956"/>
            <a:ext cx="3759200" cy="2462524"/>
          </a:xfrm>
          <a:prstGeom prst="rect">
            <a:avLst/>
          </a:prstGeom>
          <a:noFill/>
          <a:ln>
            <a:noFill/>
          </a:ln>
        </p:spPr>
        <p:txBody>
          <a:bodyPr wrap="square" lIns="101600" tIns="50800" rIns="101600" bIns="50800" anchor="t"/>
          <a:lstStyle/>
          <a:p>
            <a:pPr marL="0" indent="0">
              <a:spcAft>
                <a:spcPts val="100"/>
              </a:spcAft>
              <a:buNone/>
            </a:pPr>
            <a:r>
              <a:rPr lang="en-US" sz="1600" b="1" dirty="0">
                <a:solidFill>
                  <a:srgbClr val="C87941"/>
                </a:solidFill>
                <a:latin typeface="Calibri" pitchFamily="34" charset="0"/>
              </a:rPr>
              <a:t>Technical depth</a:t>
            </a:r>
          </a:p>
          <a:p>
            <a:pPr marL="171450" indent="-171450">
              <a:buFont typeface="Arial"/>
              <a:buChar char="•"/>
            </a:pPr>
            <a:r>
              <a:rPr lang="en-US" sz="1600" dirty="0">
                <a:solidFill>
                  <a:srgbClr val="F0EDE6"/>
                </a:solidFill>
                <a:latin typeface="Calibri" pitchFamily="34" charset="0"/>
              </a:rPr>
              <a:t>Tet4 linear elements, hand-built mesh</a:t>
            </a:r>
          </a:p>
          <a:p>
            <a:pPr marL="171450" indent="-171450">
              <a:buFont typeface="Arial"/>
              <a:buChar char="•"/>
            </a:pPr>
            <a:r>
              <a:rPr lang="en-US" sz="1600" dirty="0">
                <a:solidFill>
                  <a:srgbClr val="F0EDE6"/>
                </a:solidFill>
                <a:latin typeface="Calibri" pitchFamily="34" charset="0"/>
              </a:rPr>
              <a:t>No verification suite or convergence</a:t>
            </a:r>
          </a:p>
          <a:p>
            <a:pPr marL="171450" indent="-171450">
              <a:buFont typeface="Arial"/>
              <a:buChar char="•"/>
            </a:pPr>
            <a:r>
              <a:rPr lang="en-US" sz="1600" dirty="0">
                <a:solidFill>
                  <a:srgbClr val="F0EDE6"/>
                </a:solidFill>
                <a:latin typeface="Calibri" pitchFamily="34" charset="0"/>
              </a:rPr>
              <a:t>Missed acoustic-structural coupling</a:t>
            </a:r>
          </a:p>
          <a:p>
            <a:pPr marL="171450" indent="-171450">
              <a:buFont typeface="Arial"/>
              <a:buChar char="•"/>
            </a:pPr>
            <a:r>
              <a:rPr lang="en-US" sz="1600" dirty="0">
                <a:solidFill>
                  <a:srgbClr val="F0EDE6"/>
                </a:solidFill>
                <a:latin typeface="Calibri" pitchFamily="34" charset="0"/>
              </a:rPr>
              <a:t>Mars FoS </a:t>
            </a:r>
            <a:r>
              <a:rPr lang="en-US" sz="1600" b="1" dirty="0">
                <a:solidFill>
                  <a:srgbClr val="C00000"/>
                </a:solidFill>
                <a:latin typeface="Calibri" pitchFamily="34" charset="0"/>
              </a:rPr>
              <a:t>10.17</a:t>
            </a:r>
            <a:r>
              <a:rPr lang="en-US" sz="1600" dirty="0">
                <a:solidFill>
                  <a:srgbClr val="F0EDE6"/>
                </a:solidFill>
                <a:latin typeface="Calibri" pitchFamily="34" charset="0"/>
              </a:rPr>
              <a:t> (5× over-designed)</a:t>
            </a:r>
          </a:p>
          <a:p>
            <a:pPr marL="171450" indent="-171450">
              <a:spcAft>
                <a:spcPts val="1000"/>
              </a:spcAft>
              <a:buFont typeface="Arial"/>
              <a:buChar char="•"/>
            </a:pPr>
            <a:r>
              <a:rPr lang="en-US" sz="1600" dirty="0">
                <a:solidFill>
                  <a:srgbClr val="F0EDE6"/>
                </a:solidFill>
                <a:latin typeface="Calibri" pitchFamily="34" charset="0"/>
              </a:rPr>
              <a:t>20 min to find </a:t>
            </a:r>
            <a:r>
              <a:rPr lang="en-US" sz="1600" dirty="0" err="1">
                <a:solidFill>
                  <a:srgbClr val="F0EDE6"/>
                </a:solidFill>
                <a:latin typeface="Calibri" pitchFamily="34" charset="0"/>
              </a:rPr>
              <a:t>J_inv.T</a:t>
            </a:r>
            <a:r>
              <a:rPr lang="en-US" sz="1600" dirty="0">
                <a:solidFill>
                  <a:srgbClr val="F0EDE6"/>
                </a:solidFill>
                <a:latin typeface="Calibri" pitchFamily="34" charset="0"/>
              </a:rPr>
              <a:t> Jacobian bug</a:t>
            </a:r>
          </a:p>
          <a:p>
            <a:pPr marL="0" indent="0">
              <a:spcAft>
                <a:spcPts val="100"/>
              </a:spcAft>
              <a:buNone/>
            </a:pPr>
            <a:r>
              <a:rPr lang="en-US" sz="1600" b="1" dirty="0">
                <a:solidFill>
                  <a:srgbClr val="C87941"/>
                </a:solidFill>
                <a:latin typeface="Calibri" pitchFamily="34" charset="0"/>
              </a:rPr>
              <a:t>Cost</a:t>
            </a:r>
          </a:p>
          <a:p>
            <a:pPr marL="171450" indent="-171450">
              <a:buFont typeface="Arial"/>
              <a:buChar char="•"/>
            </a:pPr>
            <a:r>
              <a:rPr lang="en-US" sz="1600" dirty="0">
                <a:solidFill>
                  <a:srgbClr val="AAAAAA"/>
                </a:solidFill>
                <a:latin typeface="Calibri" pitchFamily="34" charset="0"/>
              </a:rPr>
              <a:t>83 min, zero compactions</a:t>
            </a:r>
          </a:p>
          <a:p>
            <a:pPr marL="171450" indent="-171450">
              <a:buFont typeface="Arial"/>
              <a:buChar char="•"/>
            </a:pPr>
            <a:r>
              <a:rPr lang="en-US" sz="1600" b="1" dirty="0">
                <a:solidFill>
                  <a:srgbClr val="AAAAAA"/>
                </a:solidFill>
                <a:latin typeface="Calibri" pitchFamily="34" charset="0"/>
              </a:rPr>
              <a:t>3 MB context</a:t>
            </a:r>
            <a:r>
              <a:rPr lang="en-US" sz="1600" dirty="0">
                <a:solidFill>
                  <a:srgbClr val="AAAAAA"/>
                </a:solidFill>
                <a:latin typeface="Calibri" pitchFamily="34" charset="0"/>
              </a:rPr>
              <a:t>, 1,440 LOC/</a:t>
            </a:r>
            <a:r>
              <a:rPr lang="en-US" sz="1600" dirty="0" err="1">
                <a:solidFill>
                  <a:srgbClr val="AAAAAA"/>
                </a:solidFill>
                <a:latin typeface="Calibri" pitchFamily="34" charset="0"/>
              </a:rPr>
              <a:t>hr</a:t>
            </a:r>
            <a:r>
              <a:rPr lang="en-US" sz="1600" dirty="0">
                <a:solidFill>
                  <a:srgbClr val="AAAAAA"/>
                </a:solidFill>
                <a:latin typeface="Calibri" pitchFamily="34" charset="0"/>
              </a:rPr>
              <a:t> (1,999 total)</a:t>
            </a:r>
          </a:p>
        </p:txBody>
      </p:sp>
    </p:spTree>
    <p:extLst>
      <p:ext uri="{BB962C8B-B14F-4D97-AF65-F5344CB8AC3E}">
        <p14:creationId xmlns:p14="http://schemas.microsoft.com/office/powerpoint/2010/main" val="3597115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638D73FC-E5CB-92C6-33D7-319C8EAA9D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FFF91DB-E862-20A6-0FA1-13FAE6EBB104}"/>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Flute Test-Case (Stuart’s Method)</a:t>
            </a:r>
            <a:endParaRPr lang="en-US" sz="2800" dirty="0"/>
          </a:p>
        </p:txBody>
      </p:sp>
      <p:sp>
        <p:nvSpPr>
          <p:cNvPr id="3" name="Shape 1">
            <a:extLst>
              <a:ext uri="{FF2B5EF4-FFF2-40B4-BE49-F238E27FC236}">
                <a16:creationId xmlns:a16="http://schemas.microsoft.com/office/drawing/2014/main" id="{B335CF01-AB54-72E3-11AA-664B36BF2594}"/>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86480232-1F1D-F396-0E4C-750F399D0647}"/>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10</a:t>
            </a:r>
            <a:endParaRPr lang="en-US" sz="1000" dirty="0"/>
          </a:p>
        </p:txBody>
      </p:sp>
      <p:pic>
        <p:nvPicPr>
          <p:cNvPr id="6" name="Picture 5">
            <a:extLst>
              <a:ext uri="{FF2B5EF4-FFF2-40B4-BE49-F238E27FC236}">
                <a16:creationId xmlns:a16="http://schemas.microsoft.com/office/drawing/2014/main" id="{0A6A1209-B2D2-BE50-169F-4B262DD28D77}"/>
              </a:ext>
            </a:extLst>
          </p:cNvPr>
          <p:cNvPicPr>
            <a:picLocks noChangeAspect="1"/>
          </p:cNvPicPr>
          <p:nvPr/>
        </p:nvPicPr>
        <p:blipFill>
          <a:blip r:embed="rId3"/>
          <a:srcRect l="1" t="27753" r="39227"/>
          <a:stretch>
            <a:fillRect/>
          </a:stretch>
        </p:blipFill>
        <p:spPr>
          <a:xfrm>
            <a:off x="659566" y="1211723"/>
            <a:ext cx="7696687" cy="3661995"/>
          </a:xfrm>
          <a:prstGeom prst="rect">
            <a:avLst/>
          </a:prstGeom>
        </p:spPr>
      </p:pic>
      <p:pic>
        <p:nvPicPr>
          <p:cNvPr id="9" name="Picture 8">
            <a:extLst>
              <a:ext uri="{FF2B5EF4-FFF2-40B4-BE49-F238E27FC236}">
                <a16:creationId xmlns:a16="http://schemas.microsoft.com/office/drawing/2014/main" id="{64BDD532-266D-266C-775C-CE846812C833}"/>
              </a:ext>
            </a:extLst>
          </p:cNvPr>
          <p:cNvPicPr>
            <a:picLocks noChangeAspect="1"/>
          </p:cNvPicPr>
          <p:nvPr/>
        </p:nvPicPr>
        <p:blipFill>
          <a:blip r:embed="rId3"/>
          <a:srcRect l="92000" t="33180"/>
          <a:stretch>
            <a:fillRect/>
          </a:stretch>
        </p:blipFill>
        <p:spPr>
          <a:xfrm>
            <a:off x="7502576" y="1551649"/>
            <a:ext cx="731520" cy="2445312"/>
          </a:xfrm>
          <a:prstGeom prst="rect">
            <a:avLst/>
          </a:prstGeom>
        </p:spPr>
      </p:pic>
      <p:pic>
        <p:nvPicPr>
          <p:cNvPr id="10" name="Picture 9">
            <a:extLst>
              <a:ext uri="{FF2B5EF4-FFF2-40B4-BE49-F238E27FC236}">
                <a16:creationId xmlns:a16="http://schemas.microsoft.com/office/drawing/2014/main" id="{EBCD2434-00F6-70C1-13BE-415083043997}"/>
              </a:ext>
            </a:extLst>
          </p:cNvPr>
          <p:cNvPicPr>
            <a:picLocks noChangeAspect="1"/>
          </p:cNvPicPr>
          <p:nvPr/>
        </p:nvPicPr>
        <p:blipFill>
          <a:blip r:embed="rId3"/>
          <a:srcRect l="31202" r="22732" b="82658"/>
          <a:stretch>
            <a:fillRect/>
          </a:stretch>
        </p:blipFill>
        <p:spPr>
          <a:xfrm>
            <a:off x="3290340" y="1351572"/>
            <a:ext cx="4212236" cy="634626"/>
          </a:xfrm>
          <a:prstGeom prst="rect">
            <a:avLst/>
          </a:prstGeom>
        </p:spPr>
      </p:pic>
      <p:sp>
        <p:nvSpPr>
          <p:cNvPr id="7" name="TextBox 6">
            <a:extLst>
              <a:ext uri="{FF2B5EF4-FFF2-40B4-BE49-F238E27FC236}">
                <a16:creationId xmlns:a16="http://schemas.microsoft.com/office/drawing/2014/main" id="{8D9B8E49-E25A-6F8F-6009-85CE67BBEEB0}"/>
              </a:ext>
            </a:extLst>
          </p:cNvPr>
          <p:cNvSpPr txBox="1"/>
          <p:nvPr/>
        </p:nvSpPr>
        <p:spPr>
          <a:xfrm>
            <a:off x="2057804" y="867918"/>
            <a:ext cx="5948096" cy="338554"/>
          </a:xfrm>
          <a:prstGeom prst="rect">
            <a:avLst/>
          </a:prstGeom>
          <a:noFill/>
        </p:spPr>
        <p:txBody>
          <a:bodyPr wrap="square">
            <a:spAutoFit/>
          </a:bodyPr>
          <a:lstStyle/>
          <a:p>
            <a:r>
              <a:rPr lang="en-US" sz="1600" dirty="0">
                <a:solidFill>
                  <a:schemeClr val="bg1"/>
                </a:solidFill>
                <a:hlinkClick r:id="rId4"/>
              </a:rPr>
              <a:t>https://activating-expertise-proxy.asdfstuart.workers.dev/</a:t>
            </a:r>
            <a:r>
              <a:rPr lang="en-US" sz="1600" dirty="0">
                <a:solidFill>
                  <a:schemeClr val="bg1"/>
                </a:solidFill>
              </a:rPr>
              <a:t> </a:t>
            </a:r>
          </a:p>
        </p:txBody>
      </p:sp>
    </p:spTree>
    <p:extLst>
      <p:ext uri="{BB962C8B-B14F-4D97-AF65-F5344CB8AC3E}">
        <p14:creationId xmlns:p14="http://schemas.microsoft.com/office/powerpoint/2010/main" val="379780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5CC01859-BDA5-1E79-D37C-35B11BF304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26A71E3-3CA6-194C-35A0-0F8BF23EA556}"/>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Flute Test-Case (Quinn’s Method)</a:t>
            </a:r>
            <a:endParaRPr lang="en-US" sz="2800" dirty="0"/>
          </a:p>
        </p:txBody>
      </p:sp>
      <p:sp>
        <p:nvSpPr>
          <p:cNvPr id="3" name="Shape 1">
            <a:extLst>
              <a:ext uri="{FF2B5EF4-FFF2-40B4-BE49-F238E27FC236}">
                <a16:creationId xmlns:a16="http://schemas.microsoft.com/office/drawing/2014/main" id="{83284026-5D93-DD16-DC06-308628061DFE}"/>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B1216EA9-EFFB-E89A-A16A-C446747F133D}"/>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10</a:t>
            </a:r>
            <a:endParaRPr lang="en-US" sz="1000" dirty="0"/>
          </a:p>
        </p:txBody>
      </p:sp>
      <p:pic>
        <p:nvPicPr>
          <p:cNvPr id="9" name="quinns_loading_mars">
            <a:hlinkClick r:id="" action="ppaction://media"/>
            <a:extLst>
              <a:ext uri="{FF2B5EF4-FFF2-40B4-BE49-F238E27FC236}">
                <a16:creationId xmlns:a16="http://schemas.microsoft.com/office/drawing/2014/main" id="{87FC64EB-0E73-C552-1FB3-41C26B24805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20830" y="1058497"/>
            <a:ext cx="7102340" cy="3995066"/>
          </a:xfrm>
          <a:prstGeom prst="rect">
            <a:avLst/>
          </a:prstGeom>
        </p:spPr>
      </p:pic>
    </p:spTree>
    <p:extLst>
      <p:ext uri="{BB962C8B-B14F-4D97-AF65-F5344CB8AC3E}">
        <p14:creationId xmlns:p14="http://schemas.microsoft.com/office/powerpoint/2010/main" val="171962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99"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46B6EC71-BBC5-47CB-2C05-F93F8F7FF0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7B6B89-1EA7-652B-CBEB-5C50A6009FB1}"/>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Flute Test-Case</a:t>
            </a:r>
            <a:endParaRPr lang="en-US" sz="2800" dirty="0"/>
          </a:p>
        </p:txBody>
      </p:sp>
      <p:sp>
        <p:nvSpPr>
          <p:cNvPr id="3" name="Shape 1">
            <a:extLst>
              <a:ext uri="{FF2B5EF4-FFF2-40B4-BE49-F238E27FC236}">
                <a16:creationId xmlns:a16="http://schemas.microsoft.com/office/drawing/2014/main" id="{91D811B0-910F-0BE0-33E6-792C84D046A4}"/>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E9654EAA-A5ED-A6F5-6E92-FE4DF28FD34B}"/>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10</a:t>
            </a:r>
            <a:endParaRPr lang="en-US" sz="1000" dirty="0"/>
          </a:p>
        </p:txBody>
      </p:sp>
      <p:pic>
        <p:nvPicPr>
          <p:cNvPr id="12" name="Picture 11">
            <a:extLst>
              <a:ext uri="{FF2B5EF4-FFF2-40B4-BE49-F238E27FC236}">
                <a16:creationId xmlns:a16="http://schemas.microsoft.com/office/drawing/2014/main" id="{31B3EB90-53F8-F0B5-955A-771182DE4F4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rcRect t="1649" b="1395"/>
          <a:stretch>
            <a:fillRect/>
          </a:stretch>
        </p:blipFill>
        <p:spPr>
          <a:xfrm>
            <a:off x="0" y="257082"/>
            <a:ext cx="9144000" cy="4629337"/>
          </a:xfrm>
          <a:prstGeom prst="rect">
            <a:avLst/>
          </a:prstGeom>
        </p:spPr>
      </p:pic>
      <p:sp>
        <p:nvSpPr>
          <p:cNvPr id="13" name="Rectangle 12">
            <a:extLst>
              <a:ext uri="{FF2B5EF4-FFF2-40B4-BE49-F238E27FC236}">
                <a16:creationId xmlns:a16="http://schemas.microsoft.com/office/drawing/2014/main" id="{4568C21D-14BB-F303-2691-0A61045CBC2B}"/>
              </a:ext>
            </a:extLst>
          </p:cNvPr>
          <p:cNvSpPr/>
          <p:nvPr/>
        </p:nvSpPr>
        <p:spPr>
          <a:xfrm>
            <a:off x="8312046" y="839450"/>
            <a:ext cx="457200" cy="2743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5A56368-2818-5988-E2A3-1BC3E20232F8}"/>
              </a:ext>
            </a:extLst>
          </p:cNvPr>
          <p:cNvSpPr/>
          <p:nvPr/>
        </p:nvSpPr>
        <p:spPr>
          <a:xfrm>
            <a:off x="8312046" y="3202899"/>
            <a:ext cx="457200" cy="51683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66F5FA-D7D9-4F73-FFEA-23AADC276935}"/>
              </a:ext>
            </a:extLst>
          </p:cNvPr>
          <p:cNvSpPr/>
          <p:nvPr/>
        </p:nvSpPr>
        <p:spPr>
          <a:xfrm>
            <a:off x="6874184" y="3202899"/>
            <a:ext cx="457200" cy="2743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435E5DC-45CB-4945-EC57-0100115D9750}"/>
              </a:ext>
            </a:extLst>
          </p:cNvPr>
          <p:cNvSpPr/>
          <p:nvPr/>
        </p:nvSpPr>
        <p:spPr>
          <a:xfrm>
            <a:off x="7585164" y="3445415"/>
            <a:ext cx="457200" cy="2743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BDF86F5-527B-AF3D-423C-5E080731DE52}"/>
              </a:ext>
            </a:extLst>
          </p:cNvPr>
          <p:cNvSpPr/>
          <p:nvPr/>
        </p:nvSpPr>
        <p:spPr>
          <a:xfrm>
            <a:off x="8315075" y="2256507"/>
            <a:ext cx="457200" cy="2743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9938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370FBBEC-E606-D725-9AD1-A7504540A9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2C638E-8993-3187-C455-09D93F715194}"/>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FractalMining Borebot</a:t>
            </a:r>
            <a:endParaRPr lang="en-US" sz="2800" dirty="0"/>
          </a:p>
        </p:txBody>
      </p:sp>
      <p:sp>
        <p:nvSpPr>
          <p:cNvPr id="3" name="Shape 1">
            <a:extLst>
              <a:ext uri="{FF2B5EF4-FFF2-40B4-BE49-F238E27FC236}">
                <a16:creationId xmlns:a16="http://schemas.microsoft.com/office/drawing/2014/main" id="{035D039D-2969-642E-2BFD-0A5563D37567}"/>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B1DDF250-EC40-B108-7214-00E583CA0E7E}"/>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sp>
        <p:nvSpPr>
          <p:cNvPr id="27" name="TextBox 26">
            <a:extLst>
              <a:ext uri="{FF2B5EF4-FFF2-40B4-BE49-F238E27FC236}">
                <a16:creationId xmlns:a16="http://schemas.microsoft.com/office/drawing/2014/main" id="{BF1442F6-A8E5-41E1-B819-053F495CAD95}"/>
              </a:ext>
            </a:extLst>
          </p:cNvPr>
          <p:cNvSpPr txBox="1"/>
          <p:nvPr/>
        </p:nvSpPr>
        <p:spPr>
          <a:xfrm>
            <a:off x="635000" y="1193800"/>
            <a:ext cx="7861300" cy="3429000"/>
          </a:xfrm>
          <a:prstGeom prst="rect">
            <a:avLst/>
          </a:prstGeom>
          <a:noFill/>
          <a:ln>
            <a:noFill/>
          </a:ln>
        </p:spPr>
        <p:txBody>
          <a:bodyPr vertOverflow="overflow" vert="horz" wrap="square" rtlCol="0" anchor="t">
            <a:noAutofit/>
          </a:bodyPr>
          <a:lstStyle/>
          <a:p>
            <a:pPr>
              <a:lnSpc>
                <a:spcPct val="130000"/>
              </a:lnSpc>
              <a:spcAft>
                <a:spcPts val="600"/>
              </a:spcAft>
            </a:pPr>
            <a:r>
              <a:rPr lang="en-US" sz="2000" dirty="0">
                <a:solidFill>
                  <a:srgbClr val="AAAAAA"/>
                </a:solidFill>
                <a:latin typeface="Calibri" pitchFamily="34" charset="0"/>
                <a:ea typeface="Calibri" pitchFamily="34" charset="-122"/>
                <a:cs typeface="Calibri" pitchFamily="34" charset="-120"/>
              </a:rPr>
              <a:t>Second-generation self-propelled mining Borebot™, designed for terrestrial critical mineral prospecting using our FractalMining™ approach.</a:t>
            </a:r>
          </a:p>
          <a:p>
            <a:pPr marL="0" indent="0">
              <a:lnSpc>
                <a:spcPct val="130000"/>
              </a:lnSpc>
              <a:spcAft>
                <a:spcPts val="200"/>
              </a:spcAft>
              <a:buNone/>
            </a:pPr>
            <a:r>
              <a:rPr lang="en-US" sz="2000" b="1" dirty="0">
                <a:solidFill>
                  <a:srgbClr val="C87941"/>
                </a:solidFill>
                <a:latin typeface="Calibri" pitchFamily="34" charset="0"/>
                <a:ea typeface="Calibri" pitchFamily="34" charset="-122"/>
                <a:cs typeface="Calibri" pitchFamily="34" charset="-120"/>
              </a:rPr>
              <a:t>Heritage</a:t>
            </a:r>
          </a:p>
          <a:p>
            <a:pPr marL="0" indent="0">
              <a:lnSpc>
                <a:spcPct val="130000"/>
              </a:lnSpc>
              <a:spcAft>
                <a:spcPts val="400"/>
              </a:spcAft>
              <a:buNone/>
            </a:pPr>
            <a:r>
              <a:rPr lang="en-US" sz="2000" dirty="0">
                <a:solidFill>
                  <a:srgbClr val="AAAAAA"/>
                </a:solidFill>
                <a:latin typeface="Calibri" pitchFamily="34" charset="0"/>
                <a:ea typeface="Calibri" pitchFamily="34" charset="-122"/>
                <a:cs typeface="Calibri" pitchFamily="34" charset="-120"/>
              </a:rPr>
              <a:t>Borebots™ was funded by a 2021 NASA Innovative Advanced Concepts (NIAC) Phase I study for autonomous deep drilling on Mars.</a:t>
            </a:r>
          </a:p>
          <a:p>
            <a:pPr marL="0" indent="0">
              <a:lnSpc>
                <a:spcPct val="130000"/>
              </a:lnSpc>
              <a:spcAft>
                <a:spcPts val="200"/>
              </a:spcAft>
              <a:buNone/>
            </a:pPr>
            <a:r>
              <a:rPr lang="en-US" sz="2000" b="1" dirty="0">
                <a:solidFill>
                  <a:srgbClr val="C87941"/>
                </a:solidFill>
                <a:latin typeface="Calibri" pitchFamily="34" charset="0"/>
                <a:ea typeface="Calibri" pitchFamily="34" charset="-122"/>
                <a:cs typeface="Calibri" pitchFamily="34" charset="-120"/>
              </a:rPr>
              <a:t>v2 Design</a:t>
            </a:r>
          </a:p>
          <a:p>
            <a:pPr>
              <a:lnSpc>
                <a:spcPct val="130000"/>
              </a:lnSpc>
            </a:pPr>
            <a:r>
              <a:rPr lang="en-US" sz="2000" dirty="0">
                <a:solidFill>
                  <a:srgbClr val="AAAAAA"/>
                </a:solidFill>
                <a:latin typeface="Calibri" pitchFamily="34" charset="0"/>
                <a:ea typeface="Calibri" pitchFamily="34" charset="-122"/>
                <a:cs typeface="Calibri" pitchFamily="34" charset="-120"/>
              </a:rPr>
              <a:t>New more energy-dense Borebots™ will link into trains and create a FractalBore™ network from landers on the surface. </a:t>
            </a:r>
          </a:p>
        </p:txBody>
      </p:sp>
    </p:spTree>
    <p:extLst>
      <p:ext uri="{BB962C8B-B14F-4D97-AF65-F5344CB8AC3E}">
        <p14:creationId xmlns:p14="http://schemas.microsoft.com/office/powerpoint/2010/main" val="2134556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8F3C3CF-480A-D8C7-ED3A-0738AD66070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3590B41-8198-65D9-2901-257386EAF1B2}"/>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8" name="Picture 7">
            <a:extLst>
              <a:ext uri="{FF2B5EF4-FFF2-40B4-BE49-F238E27FC236}">
                <a16:creationId xmlns:a16="http://schemas.microsoft.com/office/drawing/2014/main" id="{85CBC056-4504-3BF5-098E-F93EDAFA7C13}"/>
              </a:ext>
            </a:extLst>
          </p:cNvPr>
          <p:cNvPicPr>
            <a:picLocks noChangeAspect="1"/>
          </p:cNvPicPr>
          <p:nvPr/>
        </p:nvPicPr>
        <p:blipFill>
          <a:blip r:embed="rId3"/>
          <a:stretch>
            <a:fillRect/>
          </a:stretch>
        </p:blipFill>
        <p:spPr>
          <a:xfrm>
            <a:off x="1919137" y="0"/>
            <a:ext cx="5305725" cy="5143500"/>
          </a:xfrm>
          <a:prstGeom prst="rect">
            <a:avLst/>
          </a:prstGeom>
        </p:spPr>
      </p:pic>
    </p:spTree>
    <p:extLst>
      <p:ext uri="{BB962C8B-B14F-4D97-AF65-F5344CB8AC3E}">
        <p14:creationId xmlns:p14="http://schemas.microsoft.com/office/powerpoint/2010/main" val="4068310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121212"/>
        </a:solidFill>
        <a:effectLst/>
      </p:bgPr>
    </p:bg>
    <p:spTree>
      <p:nvGrpSpPr>
        <p:cNvPr id="1" name=""/>
        <p:cNvGrpSpPr/>
        <p:nvPr/>
      </p:nvGrpSpPr>
      <p:grpSpPr>
        <a:xfrm>
          <a:off x="0" y="0"/>
          <a:ext cx="0" cy="0"/>
          <a:chOff x="0" y="0"/>
          <a:chExt cx="0" cy="0"/>
        </a:xfrm>
      </p:grpSpPr>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8" name="Picture 7">
            <a:extLst>
              <a:ext uri="{FF2B5EF4-FFF2-40B4-BE49-F238E27FC236}">
                <a16:creationId xmlns:a16="http://schemas.microsoft.com/office/drawing/2014/main" id="{D4E7C25F-47DC-424D-94E6-66342C268CD4}"/>
              </a:ext>
            </a:extLst>
          </p:cNvPr>
          <p:cNvPicPr>
            <a:picLocks noChangeAspect="1"/>
          </p:cNvPicPr>
          <p:nvPr/>
        </p:nvPicPr>
        <p:blipFill>
          <a:blip r:embed="rId3"/>
          <a:stretch>
            <a:fillRect/>
          </a:stretch>
        </p:blipFill>
        <p:spPr>
          <a:xfrm>
            <a:off x="2298182" y="0"/>
            <a:ext cx="4547636" cy="5143500"/>
          </a:xfrm>
          <a:prstGeom prst="rect">
            <a:avLst/>
          </a:prstGeom>
        </p:spPr>
      </p:pic>
    </p:spTree>
    <p:extLst>
      <p:ext uri="{BB962C8B-B14F-4D97-AF65-F5344CB8AC3E}">
        <p14:creationId xmlns:p14="http://schemas.microsoft.com/office/powerpoint/2010/main" val="3693265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377EDA1B-052F-BCEB-3850-DB4B14E05F65}"/>
            </a:ext>
          </a:extLst>
        </p:cNvPr>
        <p:cNvGrpSpPr/>
        <p:nvPr/>
      </p:nvGrpSpPr>
      <p:grpSpPr>
        <a:xfrm>
          <a:off x="0" y="0"/>
          <a:ext cx="0" cy="0"/>
          <a:chOff x="0" y="0"/>
          <a:chExt cx="0" cy="0"/>
        </a:xfrm>
      </p:grpSpPr>
      <p:pic>
        <p:nvPicPr>
          <p:cNvPr id="24" name="Picture 23" descr="A screenshot of a computer&#10;&#10;AI-generated content may be incorrect.">
            <a:extLst>
              <a:ext uri="{FF2B5EF4-FFF2-40B4-BE49-F238E27FC236}">
                <a16:creationId xmlns:a16="http://schemas.microsoft.com/office/drawing/2014/main" id="{B6468075-7B9A-D279-7D86-6C4CCFD97AFF}"/>
              </a:ext>
            </a:extLst>
          </p:cNvPr>
          <p:cNvPicPr>
            <a:picLocks noChangeAspect="1"/>
          </p:cNvPicPr>
          <p:nvPr/>
        </p:nvPicPr>
        <p:blipFill>
          <a:blip r:embed="rId3"/>
          <a:stretch>
            <a:fillRect/>
          </a:stretch>
        </p:blipFill>
        <p:spPr>
          <a:xfrm>
            <a:off x="1818677" y="0"/>
            <a:ext cx="5506646" cy="5143500"/>
          </a:xfrm>
          <a:prstGeom prst="rect">
            <a:avLst/>
          </a:prstGeom>
        </p:spPr>
      </p:pic>
      <p:sp>
        <p:nvSpPr>
          <p:cNvPr id="4" name="Text 2">
            <a:extLst>
              <a:ext uri="{FF2B5EF4-FFF2-40B4-BE49-F238E27FC236}">
                <a16:creationId xmlns:a16="http://schemas.microsoft.com/office/drawing/2014/main" id="{0F7ECB40-D8C7-FE8F-BEBE-637B5C5E8720}"/>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spTree>
    <p:extLst>
      <p:ext uri="{BB962C8B-B14F-4D97-AF65-F5344CB8AC3E}">
        <p14:creationId xmlns:p14="http://schemas.microsoft.com/office/powerpoint/2010/main" val="1052073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5" name="cycloidal_animation">
            <a:hlinkClick r:id="" action="ppaction://media"/>
            <a:extLst>
              <a:ext uri="{FF2B5EF4-FFF2-40B4-BE49-F238E27FC236}">
                <a16:creationId xmlns:a16="http://schemas.microsoft.com/office/drawing/2014/main" id="{7AA01451-E45C-C8A9-F0A4-16329C412A1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000250" y="0"/>
            <a:ext cx="5143500" cy="5143500"/>
          </a:xfrm>
          <a:prstGeom prst="rect">
            <a:avLst/>
          </a:prstGeom>
        </p:spPr>
      </p:pic>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spTree>
    <p:extLst>
      <p:ext uri="{BB962C8B-B14F-4D97-AF65-F5344CB8AC3E}">
        <p14:creationId xmlns:p14="http://schemas.microsoft.com/office/powerpoint/2010/main" val="148059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999"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5"/>
                </p:tgtEl>
              </p:cMediaNode>
            </p:video>
            <p:seq concurrent="1" nextAc="seek">
              <p:cTn id="8" restart="whenNotActive" fill="hold" evtFilter="cancelBubble" nodeType="interactiveSeq">
                <p:stCondLst>
                  <p:cond evt="onClick" delay="0">
                    <p:tgtEl>
                      <p:spTgt spid="2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5"/>
                                        </p:tgtEl>
                                      </p:cBhvr>
                                    </p:cmd>
                                  </p:childTnLst>
                                </p:cTn>
                              </p:par>
                            </p:childTnLst>
                          </p:cTn>
                        </p:par>
                      </p:childTnLst>
                    </p:cTn>
                  </p:par>
                </p:childTnLst>
              </p:cTn>
              <p:nextCondLst>
                <p:cond evt="onClick" delay="0">
                  <p:tgtEl>
                    <p:spTgt spid="25"/>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656857B5-9EC7-7E88-CDA8-242D38429A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55BA8A-72D1-5C53-8936-A4247E8AC1B2}"/>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FractalMining Borebot</a:t>
            </a:r>
            <a:endParaRPr lang="en-US" sz="2800" dirty="0"/>
          </a:p>
        </p:txBody>
      </p:sp>
      <p:sp>
        <p:nvSpPr>
          <p:cNvPr id="3" name="Shape 1">
            <a:extLst>
              <a:ext uri="{FF2B5EF4-FFF2-40B4-BE49-F238E27FC236}">
                <a16:creationId xmlns:a16="http://schemas.microsoft.com/office/drawing/2014/main" id="{316FA3CF-6B1B-646D-140E-0E6237E5E4FE}"/>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8032EE50-6946-AA48-3A81-0D181C1DC25A}"/>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sp>
        <p:nvSpPr>
          <p:cNvPr id="6" name="Shape 4">
            <a:extLst>
              <a:ext uri="{FF2B5EF4-FFF2-40B4-BE49-F238E27FC236}">
                <a16:creationId xmlns:a16="http://schemas.microsoft.com/office/drawing/2014/main" id="{2817B55A-94BE-832C-5972-152A40321747}"/>
              </a:ext>
            </a:extLst>
          </p:cNvPr>
          <p:cNvSpPr/>
          <p:nvPr/>
        </p:nvSpPr>
        <p:spPr>
          <a:xfrm>
            <a:off x="1371600" y="1874520"/>
            <a:ext cx="6400800" cy="2880360"/>
          </a:xfrm>
          <a:prstGeom prst="rect">
            <a:avLst/>
          </a:prstGeom>
          <a:solidFill>
            <a:srgbClr val="1A1917"/>
          </a:solidFill>
          <a:ln w="12700">
            <a:solidFill>
              <a:srgbClr val="2A2826"/>
            </a:solidFill>
            <a:prstDash val="dash"/>
          </a:ln>
        </p:spPr>
        <p:txBody>
          <a:bodyPr/>
          <a:lstStyle/>
          <a:p>
            <a:endParaRPr lang="en-US"/>
          </a:p>
        </p:txBody>
      </p:sp>
      <p:sp>
        <p:nvSpPr>
          <p:cNvPr id="7" name="Text 5">
            <a:extLst>
              <a:ext uri="{FF2B5EF4-FFF2-40B4-BE49-F238E27FC236}">
                <a16:creationId xmlns:a16="http://schemas.microsoft.com/office/drawing/2014/main" id="{2FFABA04-229C-C096-FEF4-0EE6B87AEFED}"/>
              </a:ext>
            </a:extLst>
          </p:cNvPr>
          <p:cNvSpPr/>
          <p:nvPr/>
        </p:nvSpPr>
        <p:spPr>
          <a:xfrm>
            <a:off x="1371600" y="1874520"/>
            <a:ext cx="6400800" cy="2880360"/>
          </a:xfrm>
          <a:prstGeom prst="rect">
            <a:avLst/>
          </a:prstGeom>
          <a:noFill/>
          <a:ln/>
        </p:spPr>
        <p:txBody>
          <a:bodyPr wrap="square" rtlCol="0" anchor="ctr"/>
          <a:lstStyle/>
          <a:p>
            <a:pPr marL="0" indent="0" algn="ctr">
              <a:buNone/>
            </a:pPr>
            <a:r>
              <a:rPr lang="en-US" sz="1600" dirty="0">
                <a:solidFill>
                  <a:srgbClr val="AAAAAA"/>
                </a:solidFill>
                <a:latin typeface="Calibri" pitchFamily="34" charset="0"/>
                <a:ea typeface="Calibri" pitchFamily="34" charset="-122"/>
                <a:cs typeface="Calibri" pitchFamily="34" charset="-120"/>
              </a:rPr>
              <a:t>Screenshot / video placeholder</a:t>
            </a:r>
            <a:endParaRPr lang="en-US" sz="1600" dirty="0"/>
          </a:p>
        </p:txBody>
      </p:sp>
      <p:pic>
        <p:nvPicPr>
          <p:cNvPr id="5" name="_ motor_assembly_6p5 - FreeCAD 1.0.2 2026-04-16 00-25-13">
            <a:hlinkClick r:id="" action="ppaction://media"/>
            <a:extLst>
              <a:ext uri="{FF2B5EF4-FFF2-40B4-BE49-F238E27FC236}">
                <a16:creationId xmlns:a16="http://schemas.microsoft.com/office/drawing/2014/main" id="{8D7A889D-7C53-1E2B-069E-E42E8A59D071}"/>
              </a:ext>
            </a:extLst>
          </p:cNvPr>
          <p:cNvPicPr>
            <a:picLocks noChangeAspect="1"/>
          </p:cNvPicPr>
          <p:nvPr>
            <a:videoFile r:link="rId2"/>
            <p:extLst>
              <p:ext uri="{DAA4B4D4-6D71-4841-9C94-3DE7FCFB9230}">
                <p14:media xmlns:p14="http://schemas.microsoft.com/office/powerpoint/2010/main" r:embed="rId1"/>
              </p:ext>
            </p:extLst>
          </p:nvPr>
        </p:nvPicPr>
        <p:blipFill>
          <a:blip r:embed="rId5">
            <a:lum bright="20000" contrast="40000"/>
          </a:blip>
          <a:srcRect l="983" r="8001"/>
          <a:stretch>
            <a:fillRect/>
          </a:stretch>
        </p:blipFill>
        <p:spPr>
          <a:xfrm>
            <a:off x="19201" y="-2286"/>
            <a:ext cx="9105599" cy="5148072"/>
          </a:xfrm>
          <a:prstGeom prst="rect">
            <a:avLst/>
          </a:prstGeom>
        </p:spPr>
      </p:pic>
    </p:spTree>
    <p:extLst>
      <p:ext uri="{BB962C8B-B14F-4D97-AF65-F5344CB8AC3E}">
        <p14:creationId xmlns:p14="http://schemas.microsoft.com/office/powerpoint/2010/main" val="377935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935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07B42FDD-4D5D-EBCB-5E61-4C4D65A35AE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86D1C8F-05ED-E3EC-CD52-909B19CFEEF0}"/>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6" name="Picture 5">
            <a:extLst>
              <a:ext uri="{FF2B5EF4-FFF2-40B4-BE49-F238E27FC236}">
                <a16:creationId xmlns:a16="http://schemas.microsoft.com/office/drawing/2014/main" id="{D36C90E7-B0AB-4AB2-E4A4-B434CE273A6F}"/>
              </a:ext>
            </a:extLst>
          </p:cNvPr>
          <p:cNvPicPr>
            <a:picLocks noChangeAspect="1"/>
          </p:cNvPicPr>
          <p:nvPr/>
        </p:nvPicPr>
        <p:blipFill>
          <a:blip r:embed="rId3"/>
          <a:stretch>
            <a:fillRect/>
          </a:stretch>
        </p:blipFill>
        <p:spPr>
          <a:xfrm>
            <a:off x="0" y="1438335"/>
            <a:ext cx="9144000" cy="2266830"/>
          </a:xfrm>
          <a:prstGeom prst="rect">
            <a:avLst/>
          </a:prstGeom>
        </p:spPr>
      </p:pic>
    </p:spTree>
    <p:extLst>
      <p:ext uri="{BB962C8B-B14F-4D97-AF65-F5344CB8AC3E}">
        <p14:creationId xmlns:p14="http://schemas.microsoft.com/office/powerpoint/2010/main" val="3781676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47F5380B-0615-EB70-C0B6-1C1E55BAD4E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C629DE8-B0BF-280A-EBFC-151D022308FD}"/>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3" name="Picture 2">
            <a:extLst>
              <a:ext uri="{FF2B5EF4-FFF2-40B4-BE49-F238E27FC236}">
                <a16:creationId xmlns:a16="http://schemas.microsoft.com/office/drawing/2014/main" id="{939A776C-A142-F9AB-213D-C93CE8F11BAB}"/>
              </a:ext>
            </a:extLst>
          </p:cNvPr>
          <p:cNvPicPr>
            <a:picLocks noChangeAspect="1"/>
          </p:cNvPicPr>
          <p:nvPr/>
        </p:nvPicPr>
        <p:blipFill>
          <a:blip r:embed="rId3"/>
          <a:stretch>
            <a:fillRect/>
          </a:stretch>
        </p:blipFill>
        <p:spPr>
          <a:xfrm>
            <a:off x="1907381" y="0"/>
            <a:ext cx="5329238" cy="5143500"/>
          </a:xfrm>
          <a:prstGeom prst="rect">
            <a:avLst/>
          </a:prstGeom>
        </p:spPr>
      </p:pic>
    </p:spTree>
    <p:extLst>
      <p:ext uri="{BB962C8B-B14F-4D97-AF65-F5344CB8AC3E}">
        <p14:creationId xmlns:p14="http://schemas.microsoft.com/office/powerpoint/2010/main" val="339627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16CA3C0F-4E7B-4CA9-CC1A-0A4C78CB3A1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3383144-29AE-23AF-421A-DE818B05C1E8}"/>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6" name="Picture 5">
            <a:extLst>
              <a:ext uri="{FF2B5EF4-FFF2-40B4-BE49-F238E27FC236}">
                <a16:creationId xmlns:a16="http://schemas.microsoft.com/office/drawing/2014/main" id="{5F6FD543-E344-3EA7-AFE6-56032D6FE684}"/>
              </a:ext>
            </a:extLst>
          </p:cNvPr>
          <p:cNvPicPr>
            <a:picLocks noChangeAspect="1"/>
          </p:cNvPicPr>
          <p:nvPr/>
        </p:nvPicPr>
        <p:blipFill>
          <a:blip r:embed="rId3"/>
          <a:stretch>
            <a:fillRect/>
          </a:stretch>
        </p:blipFill>
        <p:spPr>
          <a:xfrm>
            <a:off x="0" y="2103"/>
            <a:ext cx="9144000" cy="5139293"/>
          </a:xfrm>
          <a:prstGeom prst="rect">
            <a:avLst/>
          </a:prstGeom>
        </p:spPr>
      </p:pic>
    </p:spTree>
    <p:extLst>
      <p:ext uri="{BB962C8B-B14F-4D97-AF65-F5344CB8AC3E}">
        <p14:creationId xmlns:p14="http://schemas.microsoft.com/office/powerpoint/2010/main" val="23991499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C1AD2F2A-5B55-94F1-5F0E-D2BF1BD925F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CEC3FB8-803E-6D34-E1EC-8BD46ACE01C0}"/>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3" name="Picture 2">
            <a:extLst>
              <a:ext uri="{FF2B5EF4-FFF2-40B4-BE49-F238E27FC236}">
                <a16:creationId xmlns:a16="http://schemas.microsoft.com/office/drawing/2014/main" id="{A7DF1607-BCE1-74B6-73C4-DCCC13782472}"/>
              </a:ext>
            </a:extLst>
          </p:cNvPr>
          <p:cNvPicPr>
            <a:picLocks noChangeAspect="1"/>
          </p:cNvPicPr>
          <p:nvPr/>
        </p:nvPicPr>
        <p:blipFill>
          <a:blip r:embed="rId3"/>
          <a:stretch>
            <a:fillRect/>
          </a:stretch>
        </p:blipFill>
        <p:spPr>
          <a:xfrm>
            <a:off x="2059145" y="0"/>
            <a:ext cx="5025710" cy="5143500"/>
          </a:xfrm>
          <a:prstGeom prst="rect">
            <a:avLst/>
          </a:prstGeom>
        </p:spPr>
      </p:pic>
    </p:spTree>
    <p:extLst>
      <p:ext uri="{BB962C8B-B14F-4D97-AF65-F5344CB8AC3E}">
        <p14:creationId xmlns:p14="http://schemas.microsoft.com/office/powerpoint/2010/main" val="955452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359D16EE-0CD5-C5D9-73B3-30C07EF8C0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75E09E-F055-0978-9B47-CC03AB4E7B74}"/>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FractalMining Borebot</a:t>
            </a:r>
            <a:endParaRPr lang="en-US" sz="2800" dirty="0"/>
          </a:p>
        </p:txBody>
      </p:sp>
      <p:sp>
        <p:nvSpPr>
          <p:cNvPr id="3" name="Shape 1">
            <a:extLst>
              <a:ext uri="{FF2B5EF4-FFF2-40B4-BE49-F238E27FC236}">
                <a16:creationId xmlns:a16="http://schemas.microsoft.com/office/drawing/2014/main" id="{6161DE0E-9497-53BF-F70E-14B386C9B4E9}"/>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0C3917A1-37F8-19F4-394D-4D9A767B2BF0}"/>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12</a:t>
            </a:r>
            <a:endParaRPr lang="en-US" sz="1000" dirty="0"/>
          </a:p>
        </p:txBody>
      </p:sp>
      <p:pic>
        <p:nvPicPr>
          <p:cNvPr id="8" name="Picture 7">
            <a:extLst>
              <a:ext uri="{FF2B5EF4-FFF2-40B4-BE49-F238E27FC236}">
                <a16:creationId xmlns:a16="http://schemas.microsoft.com/office/drawing/2014/main" id="{4832895B-040E-8B90-B75F-0264C213CA0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Lst>
          </a:blip>
          <a:stretch>
            <a:fillRect/>
          </a:stretch>
        </p:blipFill>
        <p:spPr>
          <a:xfrm>
            <a:off x="0" y="1155536"/>
            <a:ext cx="9144000" cy="3806777"/>
          </a:xfrm>
          <a:prstGeom prst="rect">
            <a:avLst/>
          </a:prstGeom>
        </p:spPr>
      </p:pic>
    </p:spTree>
    <p:extLst>
      <p:ext uri="{BB962C8B-B14F-4D97-AF65-F5344CB8AC3E}">
        <p14:creationId xmlns:p14="http://schemas.microsoft.com/office/powerpoint/2010/main" val="3034003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66EA1A73-B16D-4B78-7B8E-4E7A2EC4DB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79A875-9194-2C31-EE1A-B7F758D45B30}"/>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GPR Antenna Design</a:t>
            </a:r>
            <a:endParaRPr lang="en-US" sz="2800" dirty="0"/>
          </a:p>
        </p:txBody>
      </p:sp>
      <p:sp>
        <p:nvSpPr>
          <p:cNvPr id="3" name="Shape 1">
            <a:extLst>
              <a:ext uri="{FF2B5EF4-FFF2-40B4-BE49-F238E27FC236}">
                <a16:creationId xmlns:a16="http://schemas.microsoft.com/office/drawing/2014/main" id="{707EAD27-DEC1-2773-41B9-AC8FED0886C3}"/>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2381D394-3239-DBD5-4F42-3B50D5BC8A52}"/>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11</a:t>
            </a:r>
            <a:endParaRPr lang="en-US" sz="1000" dirty="0"/>
          </a:p>
        </p:txBody>
      </p:sp>
      <p:sp>
        <p:nvSpPr>
          <p:cNvPr id="11" name="TextBox 10">
            <a:extLst>
              <a:ext uri="{FF2B5EF4-FFF2-40B4-BE49-F238E27FC236}">
                <a16:creationId xmlns:a16="http://schemas.microsoft.com/office/drawing/2014/main" id="{360A7EAD-AF94-4DAA-AA74-8B8F7CED60F5}"/>
              </a:ext>
            </a:extLst>
          </p:cNvPr>
          <p:cNvSpPr txBox="1"/>
          <p:nvPr/>
        </p:nvSpPr>
        <p:spPr>
          <a:xfrm>
            <a:off x="635000" y="1193800"/>
            <a:ext cx="7861300" cy="3429000"/>
          </a:xfrm>
          <a:prstGeom prst="rect">
            <a:avLst/>
          </a:prstGeom>
          <a:noFill/>
          <a:ln>
            <a:noFill/>
          </a:ln>
        </p:spPr>
        <p:txBody>
          <a:bodyPr vertOverflow="overflow" vert="horz" wrap="square" rtlCol="0" anchor="t">
            <a:noAutofit/>
          </a:bodyPr>
          <a:lstStyle/>
          <a:p>
            <a:pPr marL="0" indent="0">
              <a:lnSpc>
                <a:spcPct val="130000"/>
              </a:lnSpc>
              <a:spcAft>
                <a:spcPts val="600"/>
              </a:spcAft>
              <a:buNone/>
            </a:pPr>
            <a:r>
              <a:rPr lang="en-US" sz="2000" dirty="0">
                <a:solidFill>
                  <a:srgbClr val="AAAAAA"/>
                </a:solidFill>
                <a:latin typeface="Calibri" pitchFamily="34" charset="0"/>
                <a:ea typeface="Calibri" pitchFamily="34" charset="-122"/>
                <a:cs typeface="Calibri" pitchFamily="34" charset="-120"/>
              </a:rPr>
              <a:t>GPR antenna designed for integration into the articulating coupler (the flexible linkage connecting Borebots™ together into a train).</a:t>
            </a:r>
          </a:p>
          <a:p>
            <a:pPr marL="0" indent="0">
              <a:lnSpc>
                <a:spcPct val="130000"/>
              </a:lnSpc>
              <a:spcAft>
                <a:spcPts val="200"/>
              </a:spcAft>
              <a:buNone/>
            </a:pPr>
            <a:r>
              <a:rPr lang="en-US" sz="2000" b="1" dirty="0">
                <a:solidFill>
                  <a:srgbClr val="C87941"/>
                </a:solidFill>
                <a:latin typeface="Calibri" pitchFamily="34" charset="0"/>
                <a:ea typeface="Calibri" pitchFamily="34" charset="-122"/>
                <a:cs typeface="Calibri" pitchFamily="34" charset="-120"/>
              </a:rPr>
              <a:t>Antenna &amp; Capability</a:t>
            </a:r>
          </a:p>
          <a:p>
            <a:pPr marL="0" indent="0">
              <a:lnSpc>
                <a:spcPct val="130000"/>
              </a:lnSpc>
              <a:spcAft>
                <a:spcPts val="1000"/>
              </a:spcAft>
              <a:buNone/>
            </a:pPr>
            <a:r>
              <a:rPr lang="en-US" sz="2000" dirty="0">
                <a:solidFill>
                  <a:srgbClr val="AAAAAA"/>
                </a:solidFill>
                <a:latin typeface="Calibri" pitchFamily="34" charset="0"/>
                <a:ea typeface="Calibri" pitchFamily="34" charset="-122"/>
                <a:cs typeface="Calibri" pitchFamily="34" charset="-120"/>
              </a:rPr>
              <a:t>VHF antenna (~50 MHz) embedded in the coupler’s central leadscrew. Coordinated Borebots in different FractalBore™ branches combine signals for large-baseline, phased-array cross-borehole tomography, mapping tens to hundreds of meters between boreholes. </a:t>
            </a:r>
          </a:p>
          <a:p>
            <a:pPr marL="0" indent="0">
              <a:lnSpc>
                <a:spcPct val="130000"/>
              </a:lnSpc>
              <a:buNone/>
            </a:pPr>
            <a:r>
              <a:rPr lang="en-US" sz="2000" b="1" dirty="0">
                <a:solidFill>
                  <a:srgbClr val="AAAAAA"/>
                </a:solidFill>
                <a:latin typeface="Calibri" pitchFamily="34" charset="0"/>
                <a:ea typeface="Calibri" pitchFamily="34" charset="-122"/>
                <a:cs typeface="Calibri" pitchFamily="34" charset="-120"/>
              </a:rPr>
              <a:t>Effectively a Telescope into the Underground. </a:t>
            </a:r>
          </a:p>
        </p:txBody>
      </p:sp>
    </p:spTree>
    <p:extLst>
      <p:ext uri="{BB962C8B-B14F-4D97-AF65-F5344CB8AC3E}">
        <p14:creationId xmlns:p14="http://schemas.microsoft.com/office/powerpoint/2010/main" val="14641998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F59F668C-605B-D8CC-225F-6E86CCE80530}"/>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5598984-1519-4D08-2454-2C2DD1282D22}"/>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11</a:t>
            </a:r>
            <a:endParaRPr lang="en-US" sz="1000" dirty="0"/>
          </a:p>
        </p:txBody>
      </p:sp>
      <p:sp>
        <p:nvSpPr>
          <p:cNvPr id="7" name="Text 5">
            <a:extLst>
              <a:ext uri="{FF2B5EF4-FFF2-40B4-BE49-F238E27FC236}">
                <a16:creationId xmlns:a16="http://schemas.microsoft.com/office/drawing/2014/main" id="{1E1F99EC-E6E2-9FFA-99D1-D84D2B03EDC4}"/>
              </a:ext>
            </a:extLst>
          </p:cNvPr>
          <p:cNvSpPr/>
          <p:nvPr/>
        </p:nvSpPr>
        <p:spPr>
          <a:xfrm>
            <a:off x="1371600" y="1874520"/>
            <a:ext cx="6400800" cy="2880360"/>
          </a:xfrm>
          <a:prstGeom prst="rect">
            <a:avLst/>
          </a:prstGeom>
          <a:noFill/>
          <a:ln/>
        </p:spPr>
        <p:txBody>
          <a:bodyPr wrap="square" rtlCol="0" anchor="ctr"/>
          <a:lstStyle/>
          <a:p>
            <a:pPr marL="0" indent="0" algn="ctr">
              <a:buNone/>
            </a:pPr>
            <a:r>
              <a:rPr lang="en-US" sz="1600" dirty="0">
                <a:solidFill>
                  <a:srgbClr val="AAAAAA"/>
                </a:solidFill>
                <a:latin typeface="Calibri" pitchFamily="34" charset="0"/>
                <a:ea typeface="Calibri" pitchFamily="34" charset="-122"/>
                <a:cs typeface="Calibri" pitchFamily="34" charset="-120"/>
              </a:rPr>
              <a:t>Screenshot / video placeholder</a:t>
            </a:r>
            <a:endParaRPr lang="en-US" sz="1600" dirty="0"/>
          </a:p>
        </p:txBody>
      </p:sp>
      <p:pic>
        <p:nvPicPr>
          <p:cNvPr id="9" name="Picture 8" descr="A black rectangular object with a black background&#10;&#10;AI-generated content may be incorrect.">
            <a:extLst>
              <a:ext uri="{FF2B5EF4-FFF2-40B4-BE49-F238E27FC236}">
                <a16:creationId xmlns:a16="http://schemas.microsoft.com/office/drawing/2014/main" id="{611E6C54-5DC5-AEDD-7C57-5E28012B39AD}"/>
              </a:ext>
            </a:extLst>
          </p:cNvPr>
          <p:cNvPicPr>
            <a:picLocks noChangeAspect="1"/>
          </p:cNvPicPr>
          <p:nvPr/>
        </p:nvPicPr>
        <p:blipFill>
          <a:blip r:embed="rId3"/>
          <a:stretch>
            <a:fillRect/>
          </a:stretch>
        </p:blipFill>
        <p:spPr>
          <a:xfrm>
            <a:off x="2443005" y="0"/>
            <a:ext cx="4257989" cy="5143500"/>
          </a:xfrm>
          <a:prstGeom prst="rect">
            <a:avLst/>
          </a:prstGeom>
        </p:spPr>
      </p:pic>
    </p:spTree>
    <p:extLst>
      <p:ext uri="{BB962C8B-B14F-4D97-AF65-F5344CB8AC3E}">
        <p14:creationId xmlns:p14="http://schemas.microsoft.com/office/powerpoint/2010/main" val="4195651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E1529A8D-7796-9A50-63B8-E440D59B60D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9A8CFC4-ECEE-AB48-0E6F-3880D0CF6B97}"/>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11</a:t>
            </a:r>
            <a:endParaRPr lang="en-US" sz="1000" dirty="0"/>
          </a:p>
        </p:txBody>
      </p:sp>
      <p:pic>
        <p:nvPicPr>
          <p:cNvPr id="9" name="Picture 8" descr="A black rectangular object with a black background&#10;&#10;AI-generated content may be incorrect.">
            <a:extLst>
              <a:ext uri="{FF2B5EF4-FFF2-40B4-BE49-F238E27FC236}">
                <a16:creationId xmlns:a16="http://schemas.microsoft.com/office/drawing/2014/main" id="{65A1AFEE-8B84-4218-3A72-43FE3D908013}"/>
              </a:ext>
            </a:extLst>
          </p:cNvPr>
          <p:cNvPicPr>
            <a:picLocks noChangeAspect="1"/>
          </p:cNvPicPr>
          <p:nvPr/>
        </p:nvPicPr>
        <p:blipFill>
          <a:blip r:embed="rId3"/>
          <a:stretch>
            <a:fillRect/>
          </a:stretch>
        </p:blipFill>
        <p:spPr>
          <a:xfrm>
            <a:off x="2443005" y="0"/>
            <a:ext cx="4257989" cy="5143500"/>
          </a:xfrm>
          <a:prstGeom prst="rect">
            <a:avLst/>
          </a:prstGeom>
        </p:spPr>
      </p:pic>
    </p:spTree>
    <p:extLst>
      <p:ext uri="{BB962C8B-B14F-4D97-AF65-F5344CB8AC3E}">
        <p14:creationId xmlns:p14="http://schemas.microsoft.com/office/powerpoint/2010/main" val="327953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1">
    <p:bg>
      <p:bgPr>
        <a:solidFill>
          <a:srgbClr val="121212"/>
        </a:solidFill>
        <a:effectLst/>
      </p:bgPr>
    </p:bg>
    <p:spTree>
      <p:nvGrpSpPr>
        <p:cNvPr id="1" name=""/>
        <p:cNvGrpSpPr/>
        <p:nvPr/>
      </p:nvGrpSpPr>
      <p:grpSpPr>
        <a:xfrm>
          <a:off x="0" y="0"/>
          <a:ext cx="0" cy="0"/>
          <a:chOff x="0" y="0"/>
          <a:chExt cx="0" cy="0"/>
        </a:xfrm>
      </p:grpSpPr>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11</a:t>
            </a:r>
            <a:endParaRPr lang="en-US" sz="1000" dirty="0"/>
          </a:p>
        </p:txBody>
      </p:sp>
      <p:pic>
        <p:nvPicPr>
          <p:cNvPr id="9" name="Picture 8" descr="A screenshot of a graph&#10;&#10;AI-generated content may be incorrect.">
            <a:extLst>
              <a:ext uri="{FF2B5EF4-FFF2-40B4-BE49-F238E27FC236}">
                <a16:creationId xmlns:a16="http://schemas.microsoft.com/office/drawing/2014/main" id="{43D8BBA7-63FC-193F-4609-0E90E4629EA6}"/>
              </a:ext>
            </a:extLst>
          </p:cNvPr>
          <p:cNvPicPr>
            <a:picLocks noChangeAspect="1"/>
          </p:cNvPicPr>
          <p:nvPr/>
        </p:nvPicPr>
        <p:blipFill>
          <a:blip r:embed="rId3"/>
          <a:stretch>
            <a:fillRect/>
          </a:stretch>
        </p:blipFill>
        <p:spPr>
          <a:xfrm>
            <a:off x="1346990" y="97436"/>
            <a:ext cx="6839761" cy="5143500"/>
          </a:xfrm>
          <a:prstGeom prst="rect">
            <a:avLst/>
          </a:prstGeom>
        </p:spPr>
      </p:pic>
    </p:spTree>
    <p:extLst>
      <p:ext uri="{BB962C8B-B14F-4D97-AF65-F5344CB8AC3E}">
        <p14:creationId xmlns:p14="http://schemas.microsoft.com/office/powerpoint/2010/main" val="1634246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7506110E-D626-28DC-EE28-342F94AEDF1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7D2D965-D43C-6F77-4525-52373FD2E1AB}"/>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11</a:t>
            </a:r>
            <a:endParaRPr lang="en-US" sz="1000" dirty="0"/>
          </a:p>
        </p:txBody>
      </p:sp>
      <p:pic>
        <p:nvPicPr>
          <p:cNvPr id="9" name="Picture 8" descr="A black rectangular object with a black background&#10;&#10;AI-generated content may be incorrect.">
            <a:extLst>
              <a:ext uri="{FF2B5EF4-FFF2-40B4-BE49-F238E27FC236}">
                <a16:creationId xmlns:a16="http://schemas.microsoft.com/office/drawing/2014/main" id="{06111AD0-6C6F-1526-F92C-5B6D488B2A5F}"/>
              </a:ext>
            </a:extLst>
          </p:cNvPr>
          <p:cNvPicPr>
            <a:picLocks noChangeAspect="1"/>
          </p:cNvPicPr>
          <p:nvPr/>
        </p:nvPicPr>
        <p:blipFill>
          <a:blip r:embed="rId3"/>
          <a:stretch>
            <a:fillRect/>
          </a:stretch>
        </p:blipFill>
        <p:spPr>
          <a:xfrm>
            <a:off x="2410971" y="0"/>
            <a:ext cx="4322057" cy="5143500"/>
          </a:xfrm>
          <a:prstGeom prst="rect">
            <a:avLst/>
          </a:prstGeom>
        </p:spPr>
      </p:pic>
    </p:spTree>
    <p:extLst>
      <p:ext uri="{BB962C8B-B14F-4D97-AF65-F5344CB8AC3E}">
        <p14:creationId xmlns:p14="http://schemas.microsoft.com/office/powerpoint/2010/main" val="3162277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28C5747E-C2CB-83F0-6D51-12C39BFE51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981721-C8EE-3009-8A21-9E14E9C63695}"/>
              </a:ext>
            </a:extLst>
          </p:cNvPr>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Work product: GPR Antenna Design</a:t>
            </a:r>
            <a:endParaRPr lang="en-US" sz="2800" dirty="0"/>
          </a:p>
        </p:txBody>
      </p:sp>
      <p:sp>
        <p:nvSpPr>
          <p:cNvPr id="3" name="Shape 1">
            <a:extLst>
              <a:ext uri="{FF2B5EF4-FFF2-40B4-BE49-F238E27FC236}">
                <a16:creationId xmlns:a16="http://schemas.microsoft.com/office/drawing/2014/main" id="{C961641A-AF81-162C-758F-FE5A0F462CE8}"/>
              </a:ext>
            </a:extLst>
          </p:cNvPr>
          <p:cNvSpPr/>
          <p:nvPr/>
        </p:nvSpPr>
        <p:spPr>
          <a:xfrm>
            <a:off x="640080" y="960120"/>
            <a:ext cx="1097280" cy="36576"/>
          </a:xfrm>
          <a:prstGeom prst="rect">
            <a:avLst/>
          </a:prstGeom>
          <a:solidFill>
            <a:srgbClr val="C87941"/>
          </a:solidFill>
          <a:ln/>
        </p:spPr>
        <p:txBody>
          <a:bodyPr/>
          <a:lstStyle/>
          <a:p>
            <a:endParaRPr lang="en-US"/>
          </a:p>
        </p:txBody>
      </p:sp>
      <p:sp>
        <p:nvSpPr>
          <p:cNvPr id="4" name="Text 2">
            <a:extLst>
              <a:ext uri="{FF2B5EF4-FFF2-40B4-BE49-F238E27FC236}">
                <a16:creationId xmlns:a16="http://schemas.microsoft.com/office/drawing/2014/main" id="{CD000615-4EC4-458B-726B-0E8389185D59}"/>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11</a:t>
            </a:r>
            <a:endParaRPr lang="en-US" sz="1000" dirty="0"/>
          </a:p>
        </p:txBody>
      </p:sp>
      <p:pic>
        <p:nvPicPr>
          <p:cNvPr id="10" name="Picture 9">
            <a:extLst>
              <a:ext uri="{FF2B5EF4-FFF2-40B4-BE49-F238E27FC236}">
                <a16:creationId xmlns:a16="http://schemas.microsoft.com/office/drawing/2014/main" id="{9B4290B5-A686-A665-C775-F47669E94B56}"/>
              </a:ext>
            </a:extLst>
          </p:cNvPr>
          <p:cNvPicPr>
            <a:picLocks noChangeAspect="1"/>
          </p:cNvPicPr>
          <p:nvPr/>
        </p:nvPicPr>
        <p:blipFill>
          <a:blip r:embed="rId3"/>
          <a:stretch>
            <a:fillRect/>
          </a:stretch>
        </p:blipFill>
        <p:spPr>
          <a:xfrm>
            <a:off x="0" y="1134672"/>
            <a:ext cx="9144000" cy="3560436"/>
          </a:xfrm>
          <a:prstGeom prst="rect">
            <a:avLst/>
          </a:prstGeom>
        </p:spPr>
      </p:pic>
    </p:spTree>
    <p:extLst>
      <p:ext uri="{BB962C8B-B14F-4D97-AF65-F5344CB8AC3E}">
        <p14:creationId xmlns:p14="http://schemas.microsoft.com/office/powerpoint/2010/main" val="20357436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E05B70C3-2529-CA4E-7F09-897DDAF6F38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ECC840A-1103-D3CF-4E55-E2D6B893A838}"/>
              </a:ext>
            </a:extLst>
          </p:cNvPr>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11</a:t>
            </a:r>
            <a:endParaRPr lang="en-US" sz="1000" dirty="0"/>
          </a:p>
        </p:txBody>
      </p:sp>
      <p:pic>
        <p:nvPicPr>
          <p:cNvPr id="11" name="Picture 10">
            <a:extLst>
              <a:ext uri="{FF2B5EF4-FFF2-40B4-BE49-F238E27FC236}">
                <a16:creationId xmlns:a16="http://schemas.microsoft.com/office/drawing/2014/main" id="{20712CF7-D24E-BAF0-9B5B-C7CDB1FF83AD}"/>
              </a:ext>
            </a:extLst>
          </p:cNvPr>
          <p:cNvPicPr>
            <a:picLocks noChangeAspect="1"/>
          </p:cNvPicPr>
          <p:nvPr/>
        </p:nvPicPr>
        <p:blipFill>
          <a:blip r:embed="rId3"/>
          <a:stretch>
            <a:fillRect/>
          </a:stretch>
        </p:blipFill>
        <p:spPr>
          <a:xfrm>
            <a:off x="2124571" y="0"/>
            <a:ext cx="4894857" cy="5143500"/>
          </a:xfrm>
          <a:prstGeom prst="rect">
            <a:avLst/>
          </a:prstGeom>
        </p:spPr>
      </p:pic>
    </p:spTree>
    <p:extLst>
      <p:ext uri="{BB962C8B-B14F-4D97-AF65-F5344CB8AC3E}">
        <p14:creationId xmlns:p14="http://schemas.microsoft.com/office/powerpoint/2010/main" val="18079055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4">
    <p:bg>
      <p:bgPr>
        <a:solidFill>
          <a:srgbClr val="121212"/>
        </a:solidFill>
        <a:effectLst/>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C87941">
              <a:alpha val="8000"/>
            </a:srgbClr>
          </a:solidFill>
          <a:ln/>
        </p:spPr>
        <p:txBody>
          <a:bodyPr/>
          <a:lstStyle/>
          <a:p>
            <a:endParaRPr lang="en-US"/>
          </a:p>
        </p:txBody>
      </p:sp>
      <p:sp>
        <p:nvSpPr>
          <p:cNvPr id="3" name="Text 1"/>
          <p:cNvSpPr/>
          <p:nvPr/>
        </p:nvSpPr>
        <p:spPr>
          <a:xfrm>
            <a:off x="640080" y="1371600"/>
            <a:ext cx="4572000" cy="731520"/>
          </a:xfrm>
          <a:prstGeom prst="rect">
            <a:avLst/>
          </a:prstGeom>
          <a:noFill/>
          <a:ln/>
        </p:spPr>
        <p:txBody>
          <a:bodyPr wrap="square" lIns="0" tIns="0" rIns="0" bIns="0" rtlCol="0" anchor="ctr"/>
          <a:lstStyle/>
          <a:p>
            <a:pPr marL="0" indent="0">
              <a:buNone/>
            </a:pPr>
            <a:r>
              <a:rPr lang="en-US" sz="3600" dirty="0">
                <a:solidFill>
                  <a:srgbClr val="F0EDE6"/>
                </a:solidFill>
                <a:latin typeface="Georgia" pitchFamily="34" charset="0"/>
                <a:ea typeface="Georgia" pitchFamily="34" charset="-122"/>
                <a:cs typeface="Georgia" pitchFamily="34" charset="-120"/>
              </a:rPr>
              <a:t>Questions?</a:t>
            </a:r>
            <a:endParaRPr lang="en-US" sz="3600" dirty="0"/>
          </a:p>
        </p:txBody>
      </p:sp>
      <p:sp>
        <p:nvSpPr>
          <p:cNvPr id="4" name="Text 2"/>
          <p:cNvSpPr/>
          <p:nvPr/>
        </p:nvSpPr>
        <p:spPr>
          <a:xfrm>
            <a:off x="640080" y="2377440"/>
            <a:ext cx="4572000" cy="1097280"/>
          </a:xfrm>
          <a:prstGeom prst="rect">
            <a:avLst/>
          </a:prstGeom>
          <a:noFill/>
          <a:ln/>
        </p:spPr>
        <p:txBody>
          <a:bodyPr wrap="square" rtlCol="0" anchor="ctr"/>
          <a:lstStyle/>
          <a:p>
            <a:pPr marL="0" indent="0">
              <a:lnSpc>
                <a:spcPct val="140000"/>
              </a:lnSpc>
              <a:buNone/>
            </a:pPr>
            <a:r>
              <a:rPr lang="en-US" sz="1600" b="1" dirty="0">
                <a:solidFill>
                  <a:srgbClr val="F0EDE6"/>
                </a:solidFill>
              </a:rPr>
              <a:t>Quinn Morley</a:t>
            </a:r>
            <a:endParaRPr lang="en-US" sz="1600" dirty="0"/>
          </a:p>
          <a:p>
            <a:pPr marL="0" indent="0">
              <a:lnSpc>
                <a:spcPct val="140000"/>
              </a:lnSpc>
              <a:buNone/>
            </a:pPr>
            <a:r>
              <a:rPr lang="en-US" sz="1300" dirty="0">
                <a:solidFill>
                  <a:srgbClr val="AAAAAA"/>
                </a:solidFill>
              </a:rPr>
              <a:t>CEO, Unleashed Robotics, Inc.</a:t>
            </a:r>
            <a:endParaRPr lang="en-US" sz="1600" dirty="0"/>
          </a:p>
          <a:p>
            <a:pPr marL="0" indent="0">
              <a:lnSpc>
                <a:spcPct val="140000"/>
              </a:lnSpc>
              <a:buNone/>
            </a:pPr>
            <a:r>
              <a:rPr lang="en-US" sz="1300" dirty="0">
                <a:solidFill>
                  <a:srgbClr val="AAAAAA"/>
                </a:solidFill>
              </a:rPr>
              <a:t>Gig Harbor, Washington</a:t>
            </a:r>
            <a:endParaRPr lang="en-US" sz="1600" dirty="0"/>
          </a:p>
        </p:txBody>
      </p:sp>
      <p:sp>
        <p:nvSpPr>
          <p:cNvPr id="5" name="Shape 3"/>
          <p:cNvSpPr/>
          <p:nvPr/>
        </p:nvSpPr>
        <p:spPr>
          <a:xfrm>
            <a:off x="640080" y="3749040"/>
            <a:ext cx="1097280" cy="36576"/>
          </a:xfrm>
          <a:prstGeom prst="rect">
            <a:avLst/>
          </a:prstGeom>
          <a:solidFill>
            <a:srgbClr val="C87941"/>
          </a:solidFill>
          <a:ln/>
        </p:spPr>
        <p:txBody>
          <a:bodyPr/>
          <a:lstStyle/>
          <a:p>
            <a:endParaRPr lang="en-US"/>
          </a:p>
        </p:txBody>
      </p:sp>
      <p:sp>
        <p:nvSpPr>
          <p:cNvPr id="6" name="Text 4"/>
          <p:cNvSpPr/>
          <p:nvPr/>
        </p:nvSpPr>
        <p:spPr>
          <a:xfrm>
            <a:off x="640080" y="4023360"/>
            <a:ext cx="4572000" cy="365760"/>
          </a:xfrm>
          <a:prstGeom prst="rect">
            <a:avLst/>
          </a:prstGeom>
          <a:noFill/>
          <a:ln/>
        </p:spPr>
        <p:txBody>
          <a:bodyPr wrap="square" lIns="0" tIns="0" rIns="0" bIns="0" rtlCol="0" anchor="ctr"/>
          <a:lstStyle/>
          <a:p>
            <a:pPr marL="0" indent="0">
              <a:buNone/>
            </a:pPr>
            <a:r>
              <a:rPr lang="en-US" sz="1100" dirty="0">
                <a:solidFill>
                  <a:srgbClr val="AAAAAA"/>
                </a:solidFill>
                <a:latin typeface="Calibri" pitchFamily="34" charset="0"/>
                <a:ea typeface="Calibri" pitchFamily="34" charset="-122"/>
                <a:cs typeface="Calibri" pitchFamily="34" charset="-120"/>
              </a:rPr>
              <a:t>Method based on Nelson (2026). Implementation by Unleashed Robotics.</a:t>
            </a:r>
            <a:endParaRPr lang="en-US" sz="1100" dirty="0"/>
          </a:p>
        </p:txBody>
      </p:sp>
    </p:spTree>
    <p:extLst>
      <p:ext uri="{BB962C8B-B14F-4D97-AF65-F5344CB8AC3E}">
        <p14:creationId xmlns:p14="http://schemas.microsoft.com/office/powerpoint/2010/main" val="6523704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a:extLst>
            <a:ext uri="{FF2B5EF4-FFF2-40B4-BE49-F238E27FC236}">
              <a16:creationId xmlns:a16="http://schemas.microsoft.com/office/drawing/2014/main" id="{B74CC2B9-B20B-1CEE-4DAA-A7EA987D7A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EF00535-04CB-3C74-C2CA-0509CD52F713}"/>
              </a:ext>
            </a:extLst>
          </p:cNvPr>
          <p:cNvSpPr/>
          <p:nvPr/>
        </p:nvSpPr>
        <p:spPr>
          <a:xfrm>
            <a:off x="5943600" y="914400"/>
            <a:ext cx="4572000" cy="4572000"/>
          </a:xfrm>
          <a:prstGeom prst="ellipse">
            <a:avLst/>
          </a:prstGeom>
          <a:solidFill>
            <a:srgbClr val="C87941">
              <a:alpha val="8000"/>
            </a:srgbClr>
          </a:solidFill>
          <a:ln/>
        </p:spPr>
        <p:txBody>
          <a:bodyPr/>
          <a:lstStyle/>
          <a:p>
            <a:endParaRPr lang="en-US"/>
          </a:p>
        </p:txBody>
      </p:sp>
      <p:sp>
        <p:nvSpPr>
          <p:cNvPr id="3" name="Text 1">
            <a:extLst>
              <a:ext uri="{FF2B5EF4-FFF2-40B4-BE49-F238E27FC236}">
                <a16:creationId xmlns:a16="http://schemas.microsoft.com/office/drawing/2014/main" id="{A2131BBB-7F1A-0435-7286-B0D68FDB1201}"/>
              </a:ext>
            </a:extLst>
          </p:cNvPr>
          <p:cNvSpPr/>
          <p:nvPr/>
        </p:nvSpPr>
        <p:spPr>
          <a:xfrm>
            <a:off x="640080" y="1371600"/>
            <a:ext cx="4572000" cy="731520"/>
          </a:xfrm>
          <a:prstGeom prst="rect">
            <a:avLst/>
          </a:prstGeom>
          <a:noFill/>
          <a:ln/>
        </p:spPr>
        <p:txBody>
          <a:bodyPr wrap="square" lIns="0" tIns="0" rIns="0" bIns="0" rtlCol="0" anchor="ctr"/>
          <a:lstStyle/>
          <a:p>
            <a:pPr marL="0" indent="0">
              <a:buNone/>
            </a:pPr>
            <a:r>
              <a:rPr lang="en-US" sz="3600" dirty="0">
                <a:solidFill>
                  <a:srgbClr val="F0EDE6"/>
                </a:solidFill>
                <a:latin typeface="Georgia" pitchFamily="34" charset="0"/>
                <a:ea typeface="Georgia" pitchFamily="34" charset="-122"/>
                <a:cs typeface="Georgia" pitchFamily="34" charset="-120"/>
              </a:rPr>
              <a:t>Backup Slides</a:t>
            </a:r>
            <a:endParaRPr lang="en-US" sz="3600" dirty="0"/>
          </a:p>
        </p:txBody>
      </p:sp>
      <p:sp>
        <p:nvSpPr>
          <p:cNvPr id="5" name="Shape 3">
            <a:extLst>
              <a:ext uri="{FF2B5EF4-FFF2-40B4-BE49-F238E27FC236}">
                <a16:creationId xmlns:a16="http://schemas.microsoft.com/office/drawing/2014/main" id="{EBA2611D-27BB-FA47-BBEA-63DD61F8A9A9}"/>
              </a:ext>
            </a:extLst>
          </p:cNvPr>
          <p:cNvSpPr/>
          <p:nvPr/>
        </p:nvSpPr>
        <p:spPr>
          <a:xfrm>
            <a:off x="640080" y="3749040"/>
            <a:ext cx="1097280" cy="36576"/>
          </a:xfrm>
          <a:prstGeom prst="rect">
            <a:avLst/>
          </a:prstGeom>
          <a:solidFill>
            <a:srgbClr val="C87941"/>
          </a:solidFill>
          <a:ln/>
        </p:spPr>
        <p:txBody>
          <a:bodyPr/>
          <a:lstStyle/>
          <a:p>
            <a:endParaRPr lang="en-US"/>
          </a:p>
        </p:txBody>
      </p:sp>
    </p:spTree>
    <p:extLst>
      <p:ext uri="{BB962C8B-B14F-4D97-AF65-F5344CB8AC3E}">
        <p14:creationId xmlns:p14="http://schemas.microsoft.com/office/powerpoint/2010/main" val="186716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3">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13</a:t>
            </a:r>
            <a:endParaRPr lang="en-US" sz="1000" dirty="0"/>
          </a:p>
        </p:txBody>
      </p:sp>
      <p:pic>
        <p:nvPicPr>
          <p:cNvPr id="3" name="Image 0" descr="preencoded.png"/>
          <p:cNvPicPr>
            <a:picLocks noChangeAspect="1"/>
          </p:cNvPicPr>
          <p:nvPr/>
        </p:nvPicPr>
        <p:blipFill>
          <a:blip r:embed="rId3"/>
          <a:stretch>
            <a:fillRect/>
          </a:stretch>
        </p:blipFill>
        <p:spPr>
          <a:xfrm>
            <a:off x="640080" y="640080"/>
            <a:ext cx="457200" cy="457200"/>
          </a:xfrm>
          <a:prstGeom prst="rect">
            <a:avLst/>
          </a:prstGeom>
        </p:spPr>
      </p:pic>
      <p:sp>
        <p:nvSpPr>
          <p:cNvPr id="4" name="Text 1"/>
          <p:cNvSpPr/>
          <p:nvPr/>
        </p:nvSpPr>
        <p:spPr>
          <a:xfrm>
            <a:off x="1234440" y="640080"/>
            <a:ext cx="4572000" cy="45720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How to start</a:t>
            </a:r>
            <a:endParaRPr lang="en-US" sz="2800" dirty="0"/>
          </a:p>
        </p:txBody>
      </p:sp>
      <p:sp>
        <p:nvSpPr>
          <p:cNvPr id="5" name="Shape 2"/>
          <p:cNvSpPr/>
          <p:nvPr/>
        </p:nvSpPr>
        <p:spPr>
          <a:xfrm>
            <a:off x="640080" y="1569176"/>
            <a:ext cx="7863840" cy="1280160"/>
          </a:xfrm>
          <a:prstGeom prst="rect">
            <a:avLst/>
          </a:prstGeom>
          <a:solidFill>
            <a:srgbClr val="1E1C18"/>
          </a:solidFill>
          <a:ln/>
        </p:spPr>
        <p:txBody>
          <a:bodyPr/>
          <a:lstStyle/>
          <a:p>
            <a:endParaRPr lang="en-US"/>
          </a:p>
        </p:txBody>
      </p:sp>
      <p:sp>
        <p:nvSpPr>
          <p:cNvPr id="6" name="Text 3"/>
          <p:cNvSpPr/>
          <p:nvPr/>
        </p:nvSpPr>
        <p:spPr>
          <a:xfrm>
            <a:off x="914400" y="1660616"/>
            <a:ext cx="7315200" cy="1097280"/>
          </a:xfrm>
          <a:prstGeom prst="rect">
            <a:avLst/>
          </a:prstGeom>
          <a:noFill/>
          <a:ln/>
        </p:spPr>
        <p:txBody>
          <a:bodyPr wrap="square" rtlCol="0" anchor="ctr"/>
          <a:lstStyle/>
          <a:p>
            <a:pPr marL="0" indent="0">
              <a:lnSpc>
                <a:spcPct val="140000"/>
              </a:lnSpc>
              <a:buNone/>
            </a:pPr>
            <a:r>
              <a:rPr lang="en-US" sz="1800" dirty="0">
                <a:solidFill>
                  <a:srgbClr val="C87941"/>
                </a:solidFill>
                <a:latin typeface="Consolas" pitchFamily="34" charset="0"/>
                <a:ea typeface="Consolas" pitchFamily="34" charset="-122"/>
                <a:cs typeface="Consolas" pitchFamily="34" charset="-120"/>
              </a:rPr>
              <a:t>Read CLAUDE.md.</a:t>
            </a:r>
            <a:endParaRPr lang="en-US" sz="1800" dirty="0"/>
          </a:p>
          <a:p>
            <a:pPr marL="0" indent="0">
              <a:lnSpc>
                <a:spcPct val="140000"/>
              </a:lnSpc>
              <a:buNone/>
            </a:pPr>
            <a:r>
              <a:rPr lang="en-US" sz="1800" dirty="0">
                <a:solidFill>
                  <a:srgbClr val="F0EDE6"/>
                </a:solidFill>
                <a:latin typeface="Consolas" pitchFamily="34" charset="0"/>
                <a:ea typeface="Consolas" pitchFamily="34" charset="-122"/>
                <a:cs typeface="Consolas" pitchFamily="34" charset="-120"/>
              </a:rPr>
              <a:t>Work through prompt0.</a:t>
            </a:r>
            <a:endParaRPr lang="en-US" sz="1800" dirty="0"/>
          </a:p>
          <a:p>
            <a:pPr marL="0" indent="0">
              <a:lnSpc>
                <a:spcPct val="140000"/>
              </a:lnSpc>
              <a:buNone/>
            </a:pPr>
            <a:r>
              <a:rPr lang="en-US" sz="1800" dirty="0">
                <a:solidFill>
                  <a:srgbClr val="F0EDE6"/>
                </a:solidFill>
                <a:latin typeface="Consolas" pitchFamily="34" charset="0"/>
                <a:ea typeface="Consolas" pitchFamily="34" charset="-122"/>
                <a:cs typeface="Consolas" pitchFamily="34" charset="-120"/>
              </a:rPr>
              <a:t>Hand it a work order.</a:t>
            </a:r>
            <a:endParaRPr lang="en-US" sz="1800" dirty="0"/>
          </a:p>
        </p:txBody>
      </p:sp>
      <p:sp>
        <p:nvSpPr>
          <p:cNvPr id="8" name="Shape 5"/>
          <p:cNvSpPr/>
          <p:nvPr/>
        </p:nvSpPr>
        <p:spPr>
          <a:xfrm>
            <a:off x="452301" y="3249389"/>
            <a:ext cx="2560320" cy="1097280"/>
          </a:xfrm>
          <a:prstGeom prst="rect">
            <a:avLst/>
          </a:prstGeom>
          <a:solidFill>
            <a:srgbClr val="1A1917"/>
          </a:solidFill>
          <a:ln w="6350">
            <a:solidFill>
              <a:srgbClr val="2A2826"/>
            </a:solidFill>
            <a:prstDash val="solid"/>
          </a:ln>
        </p:spPr>
        <p:txBody>
          <a:bodyPr/>
          <a:lstStyle/>
          <a:p>
            <a:endParaRPr lang="en-US" sz="2800"/>
          </a:p>
        </p:txBody>
      </p:sp>
      <p:sp>
        <p:nvSpPr>
          <p:cNvPr id="9" name="Text 6"/>
          <p:cNvSpPr/>
          <p:nvPr/>
        </p:nvSpPr>
        <p:spPr>
          <a:xfrm>
            <a:off x="589461" y="3322541"/>
            <a:ext cx="365760" cy="274320"/>
          </a:xfrm>
          <a:prstGeom prst="rect">
            <a:avLst/>
          </a:prstGeom>
          <a:noFill/>
          <a:ln/>
        </p:spPr>
        <p:txBody>
          <a:bodyPr wrap="square" rtlCol="0" anchor="ctr"/>
          <a:lstStyle/>
          <a:p>
            <a:pPr marL="0" indent="0">
              <a:buNone/>
            </a:pPr>
            <a:r>
              <a:rPr lang="en-US" sz="2000" b="1" dirty="0">
                <a:solidFill>
                  <a:srgbClr val="C87941"/>
                </a:solidFill>
                <a:latin typeface="Calibri" pitchFamily="34" charset="0"/>
                <a:ea typeface="Calibri" pitchFamily="34" charset="-122"/>
                <a:cs typeface="Calibri" pitchFamily="34" charset="-120"/>
              </a:rPr>
              <a:t>1</a:t>
            </a:r>
            <a:endParaRPr lang="en-US" sz="2000" dirty="0"/>
          </a:p>
        </p:txBody>
      </p:sp>
      <p:sp>
        <p:nvSpPr>
          <p:cNvPr id="10" name="Text 7"/>
          <p:cNvSpPr/>
          <p:nvPr/>
        </p:nvSpPr>
        <p:spPr>
          <a:xfrm>
            <a:off x="909501" y="3322541"/>
            <a:ext cx="1828800" cy="274320"/>
          </a:xfrm>
          <a:prstGeom prst="rect">
            <a:avLst/>
          </a:prstGeom>
          <a:noFill/>
          <a:ln/>
        </p:spPr>
        <p:txBody>
          <a:bodyPr wrap="square" lIns="0" tIns="0" rIns="0" bIns="0" rtlCol="0" anchor="ctr"/>
          <a:lstStyle/>
          <a:p>
            <a:pPr marL="0" indent="0">
              <a:buNone/>
            </a:pPr>
            <a:r>
              <a:rPr lang="en-US" b="1" dirty="0">
                <a:solidFill>
                  <a:srgbClr val="F0EDE6"/>
                </a:solidFill>
                <a:latin typeface="Calibri" pitchFamily="34" charset="0"/>
                <a:ea typeface="Calibri" pitchFamily="34" charset="-122"/>
                <a:cs typeface="Calibri" pitchFamily="34" charset="-120"/>
              </a:rPr>
              <a:t>Gameplan</a:t>
            </a:r>
            <a:endParaRPr lang="en-US" dirty="0"/>
          </a:p>
        </p:txBody>
      </p:sp>
      <p:sp>
        <p:nvSpPr>
          <p:cNvPr id="11" name="Text 8"/>
          <p:cNvSpPr/>
          <p:nvPr/>
        </p:nvSpPr>
        <p:spPr>
          <a:xfrm>
            <a:off x="589461" y="3660869"/>
            <a:ext cx="2286000" cy="594360"/>
          </a:xfrm>
          <a:prstGeom prst="rect">
            <a:avLst/>
          </a:prstGeom>
          <a:noFill/>
          <a:ln/>
        </p:spPr>
        <p:txBody>
          <a:bodyPr wrap="square" lIns="0" tIns="0" rIns="0" bIns="0" rtlCol="0" anchor="ctr"/>
          <a:lstStyle/>
          <a:p>
            <a:pPr marL="0" indent="0">
              <a:lnSpc>
                <a:spcPct val="120000"/>
              </a:lnSpc>
              <a:buNone/>
            </a:pPr>
            <a:r>
              <a:rPr lang="en-US" sz="1600" dirty="0">
                <a:solidFill>
                  <a:srgbClr val="AAAAAA"/>
                </a:solidFill>
                <a:latin typeface="Calibri" pitchFamily="34" charset="0"/>
                <a:ea typeface="Calibri" pitchFamily="34" charset="-122"/>
                <a:cs typeface="Calibri" pitchFamily="34" charset="-120"/>
              </a:rPr>
              <a:t>The team builds a plan</a:t>
            </a:r>
            <a:endParaRPr lang="en-US" sz="1600" dirty="0"/>
          </a:p>
          <a:p>
            <a:pPr marL="0" indent="0">
              <a:lnSpc>
                <a:spcPct val="120000"/>
              </a:lnSpc>
              <a:buNone/>
            </a:pPr>
            <a:r>
              <a:rPr lang="en-US" sz="1600" dirty="0">
                <a:solidFill>
                  <a:srgbClr val="AAAAAA"/>
                </a:solidFill>
                <a:latin typeface="Calibri" pitchFamily="34" charset="0"/>
                <a:ea typeface="Calibri" pitchFamily="34" charset="-122"/>
                <a:cs typeface="Calibri" pitchFamily="34" charset="-120"/>
              </a:rPr>
              <a:t>for your review.</a:t>
            </a:r>
            <a:endParaRPr lang="en-US" sz="1600" dirty="0"/>
          </a:p>
        </p:txBody>
      </p:sp>
      <p:sp>
        <p:nvSpPr>
          <p:cNvPr id="12" name="Shape 9"/>
          <p:cNvSpPr/>
          <p:nvPr/>
        </p:nvSpPr>
        <p:spPr>
          <a:xfrm>
            <a:off x="3286941" y="3249389"/>
            <a:ext cx="2560320" cy="1097280"/>
          </a:xfrm>
          <a:prstGeom prst="rect">
            <a:avLst/>
          </a:prstGeom>
          <a:solidFill>
            <a:srgbClr val="1A1917"/>
          </a:solidFill>
          <a:ln w="6350">
            <a:solidFill>
              <a:srgbClr val="2A2826"/>
            </a:solidFill>
            <a:prstDash val="solid"/>
          </a:ln>
        </p:spPr>
        <p:txBody>
          <a:bodyPr/>
          <a:lstStyle/>
          <a:p>
            <a:endParaRPr lang="en-US" sz="2800"/>
          </a:p>
        </p:txBody>
      </p:sp>
      <p:sp>
        <p:nvSpPr>
          <p:cNvPr id="13" name="Text 10"/>
          <p:cNvSpPr/>
          <p:nvPr/>
        </p:nvSpPr>
        <p:spPr>
          <a:xfrm>
            <a:off x="3424101" y="3322541"/>
            <a:ext cx="365760" cy="274320"/>
          </a:xfrm>
          <a:prstGeom prst="rect">
            <a:avLst/>
          </a:prstGeom>
          <a:noFill/>
          <a:ln/>
        </p:spPr>
        <p:txBody>
          <a:bodyPr wrap="square" rtlCol="0" anchor="ctr"/>
          <a:lstStyle/>
          <a:p>
            <a:pPr marL="0" indent="0">
              <a:buNone/>
            </a:pPr>
            <a:r>
              <a:rPr lang="en-US" sz="2000" b="1" dirty="0">
                <a:solidFill>
                  <a:srgbClr val="C87941"/>
                </a:solidFill>
                <a:latin typeface="Calibri" pitchFamily="34" charset="0"/>
                <a:ea typeface="Calibri" pitchFamily="34" charset="-122"/>
                <a:cs typeface="Calibri" pitchFamily="34" charset="-120"/>
              </a:rPr>
              <a:t>2</a:t>
            </a:r>
            <a:endParaRPr lang="en-US" sz="2000" dirty="0"/>
          </a:p>
        </p:txBody>
      </p:sp>
      <p:sp>
        <p:nvSpPr>
          <p:cNvPr id="14" name="Text 11"/>
          <p:cNvSpPr/>
          <p:nvPr/>
        </p:nvSpPr>
        <p:spPr>
          <a:xfrm>
            <a:off x="3744141" y="3322541"/>
            <a:ext cx="1828800" cy="274320"/>
          </a:xfrm>
          <a:prstGeom prst="rect">
            <a:avLst/>
          </a:prstGeom>
          <a:noFill/>
          <a:ln/>
        </p:spPr>
        <p:txBody>
          <a:bodyPr wrap="square" lIns="0" tIns="0" rIns="0" bIns="0" rtlCol="0" anchor="ctr"/>
          <a:lstStyle/>
          <a:p>
            <a:pPr marL="0" indent="0">
              <a:buNone/>
            </a:pPr>
            <a:r>
              <a:rPr lang="en-US" b="1" dirty="0">
                <a:solidFill>
                  <a:srgbClr val="F0EDE6"/>
                </a:solidFill>
                <a:latin typeface="Calibri" pitchFamily="34" charset="0"/>
                <a:ea typeface="Calibri" pitchFamily="34" charset="-122"/>
                <a:cs typeface="Calibri" pitchFamily="34" charset="-120"/>
              </a:rPr>
              <a:t>Test suite</a:t>
            </a:r>
            <a:endParaRPr lang="en-US" dirty="0"/>
          </a:p>
        </p:txBody>
      </p:sp>
      <p:sp>
        <p:nvSpPr>
          <p:cNvPr id="15" name="Text 12"/>
          <p:cNvSpPr/>
          <p:nvPr/>
        </p:nvSpPr>
        <p:spPr>
          <a:xfrm>
            <a:off x="3424101" y="3660869"/>
            <a:ext cx="2286000" cy="594360"/>
          </a:xfrm>
          <a:prstGeom prst="rect">
            <a:avLst/>
          </a:prstGeom>
          <a:noFill/>
          <a:ln/>
        </p:spPr>
        <p:txBody>
          <a:bodyPr wrap="square" lIns="0" tIns="0" rIns="0" bIns="0" rtlCol="0" anchor="ctr"/>
          <a:lstStyle/>
          <a:p>
            <a:pPr marL="0" indent="0">
              <a:lnSpc>
                <a:spcPct val="120000"/>
              </a:lnSpc>
              <a:buNone/>
            </a:pPr>
            <a:r>
              <a:rPr lang="en-US" sz="1600" dirty="0">
                <a:solidFill>
                  <a:srgbClr val="AAAAAA"/>
                </a:solidFill>
                <a:latin typeface="Calibri" pitchFamily="34" charset="0"/>
                <a:ea typeface="Calibri" pitchFamily="34" charset="-122"/>
                <a:cs typeface="Calibri" pitchFamily="34" charset="-120"/>
              </a:rPr>
              <a:t>Define done before</a:t>
            </a:r>
            <a:endParaRPr lang="en-US" sz="1600" dirty="0"/>
          </a:p>
          <a:p>
            <a:pPr marL="0" indent="0">
              <a:lnSpc>
                <a:spcPct val="120000"/>
              </a:lnSpc>
              <a:buNone/>
            </a:pPr>
            <a:r>
              <a:rPr lang="en-US" sz="1600" dirty="0">
                <a:solidFill>
                  <a:srgbClr val="AAAAAA"/>
                </a:solidFill>
                <a:latin typeface="Calibri" pitchFamily="34" charset="0"/>
                <a:ea typeface="Calibri" pitchFamily="34" charset="-122"/>
                <a:cs typeface="Calibri" pitchFamily="34" charset="-120"/>
              </a:rPr>
              <a:t>building anything.</a:t>
            </a:r>
            <a:endParaRPr lang="en-US" sz="1600" dirty="0"/>
          </a:p>
        </p:txBody>
      </p:sp>
      <p:sp>
        <p:nvSpPr>
          <p:cNvPr id="16" name="Shape 13"/>
          <p:cNvSpPr/>
          <p:nvPr/>
        </p:nvSpPr>
        <p:spPr>
          <a:xfrm>
            <a:off x="6121581" y="3249389"/>
            <a:ext cx="2560320" cy="1097280"/>
          </a:xfrm>
          <a:prstGeom prst="rect">
            <a:avLst/>
          </a:prstGeom>
          <a:solidFill>
            <a:srgbClr val="1A1917"/>
          </a:solidFill>
          <a:ln w="6350">
            <a:solidFill>
              <a:srgbClr val="2A2826"/>
            </a:solidFill>
            <a:prstDash val="solid"/>
          </a:ln>
        </p:spPr>
        <p:txBody>
          <a:bodyPr/>
          <a:lstStyle/>
          <a:p>
            <a:endParaRPr lang="en-US" sz="2800"/>
          </a:p>
        </p:txBody>
      </p:sp>
      <p:sp>
        <p:nvSpPr>
          <p:cNvPr id="17" name="Text 14"/>
          <p:cNvSpPr/>
          <p:nvPr/>
        </p:nvSpPr>
        <p:spPr>
          <a:xfrm>
            <a:off x="6258741" y="3322541"/>
            <a:ext cx="365760" cy="274320"/>
          </a:xfrm>
          <a:prstGeom prst="rect">
            <a:avLst/>
          </a:prstGeom>
          <a:noFill/>
          <a:ln/>
        </p:spPr>
        <p:txBody>
          <a:bodyPr wrap="square" rtlCol="0" anchor="ctr"/>
          <a:lstStyle/>
          <a:p>
            <a:pPr marL="0" indent="0">
              <a:buNone/>
            </a:pPr>
            <a:r>
              <a:rPr lang="en-US" sz="2000" b="1" dirty="0">
                <a:solidFill>
                  <a:srgbClr val="C87941"/>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6578781" y="3322541"/>
            <a:ext cx="1828800" cy="274320"/>
          </a:xfrm>
          <a:prstGeom prst="rect">
            <a:avLst/>
          </a:prstGeom>
          <a:noFill/>
          <a:ln/>
        </p:spPr>
        <p:txBody>
          <a:bodyPr wrap="square" lIns="0" tIns="0" rIns="0" bIns="0" rtlCol="0" anchor="ctr"/>
          <a:lstStyle/>
          <a:p>
            <a:pPr marL="0" indent="0">
              <a:buNone/>
            </a:pPr>
            <a:r>
              <a:rPr lang="en-US" b="1" dirty="0">
                <a:solidFill>
                  <a:srgbClr val="F0EDE6"/>
                </a:solidFill>
                <a:latin typeface="Calibri" pitchFamily="34" charset="0"/>
                <a:ea typeface="Calibri" pitchFamily="34" charset="-122"/>
                <a:cs typeface="Calibri" pitchFamily="34" charset="-120"/>
              </a:rPr>
              <a:t>Execute</a:t>
            </a:r>
            <a:endParaRPr lang="en-US" dirty="0"/>
          </a:p>
        </p:txBody>
      </p:sp>
      <p:sp>
        <p:nvSpPr>
          <p:cNvPr id="19" name="Text 16"/>
          <p:cNvSpPr/>
          <p:nvPr/>
        </p:nvSpPr>
        <p:spPr>
          <a:xfrm>
            <a:off x="6258741" y="3660869"/>
            <a:ext cx="2286000" cy="594360"/>
          </a:xfrm>
          <a:prstGeom prst="rect">
            <a:avLst/>
          </a:prstGeom>
          <a:noFill/>
          <a:ln/>
        </p:spPr>
        <p:txBody>
          <a:bodyPr wrap="square" lIns="0" tIns="0" rIns="0" bIns="0" rtlCol="0" anchor="ctr"/>
          <a:lstStyle/>
          <a:p>
            <a:pPr marL="0" indent="0">
              <a:lnSpc>
                <a:spcPct val="120000"/>
              </a:lnSpc>
              <a:buNone/>
            </a:pPr>
            <a:r>
              <a:rPr lang="en-US" sz="1600" dirty="0">
                <a:solidFill>
                  <a:srgbClr val="AAAAAA"/>
                </a:solidFill>
                <a:latin typeface="Calibri" pitchFamily="34" charset="0"/>
                <a:ea typeface="Calibri" pitchFamily="34" charset="-122"/>
                <a:cs typeface="Calibri" pitchFamily="34" charset="-120"/>
              </a:rPr>
              <a:t>Wave 1 builds. Wave 2</a:t>
            </a:r>
            <a:endParaRPr lang="en-US" sz="1600" dirty="0"/>
          </a:p>
          <a:p>
            <a:pPr marL="0" indent="0">
              <a:lnSpc>
                <a:spcPct val="120000"/>
              </a:lnSpc>
              <a:buNone/>
            </a:pPr>
            <a:r>
              <a:rPr lang="en-US" sz="1600" dirty="0">
                <a:solidFill>
                  <a:srgbClr val="AAAAAA"/>
                </a:solidFill>
                <a:latin typeface="Calibri" pitchFamily="34" charset="0"/>
                <a:ea typeface="Calibri" pitchFamily="34" charset="-122"/>
                <a:cs typeface="Calibri" pitchFamily="34" charset="-120"/>
              </a:rPr>
              <a:t>reviews. You approve.</a:t>
            </a:r>
            <a:endParaRPr lang="en-US" sz="1600" dirty="0"/>
          </a:p>
        </p:txBody>
      </p:sp>
    </p:spTree>
    <p:extLst>
      <p:ext uri="{BB962C8B-B14F-4D97-AF65-F5344CB8AC3E}">
        <p14:creationId xmlns:p14="http://schemas.microsoft.com/office/powerpoint/2010/main" val="34509807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7">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dirty="0">
                <a:solidFill>
                  <a:srgbClr val="F0EDE6"/>
                </a:solidFill>
                <a:latin typeface="Georgia" pitchFamily="34" charset="0"/>
                <a:ea typeface="Georgia" pitchFamily="34" charset="-122"/>
                <a:cs typeface="Georgia" pitchFamily="34" charset="-120"/>
              </a:rPr>
              <a:t>Test-driven documentation</a:t>
            </a:r>
            <a:endParaRPr lang="en-US" sz="2800" dirty="0"/>
          </a:p>
        </p:txBody>
      </p:sp>
      <p:sp>
        <p:nvSpPr>
          <p:cNvPr id="3" name="Shape 1"/>
          <p:cNvSpPr/>
          <p:nvPr/>
        </p:nvSpPr>
        <p:spPr>
          <a:xfrm>
            <a:off x="640080" y="960120"/>
            <a:ext cx="1097280" cy="36576"/>
          </a:xfrm>
          <a:prstGeom prst="rect">
            <a:avLst/>
          </a:prstGeom>
          <a:solidFill>
            <a:srgbClr val="C87941"/>
          </a:solidFill>
          <a:ln/>
        </p:spPr>
        <p:txBody>
          <a:bodyPr/>
          <a:lstStyle/>
          <a:p>
            <a:endParaRPr lang="en-US"/>
          </a:p>
        </p:txBody>
      </p:sp>
      <p:sp>
        <p:nvSpPr>
          <p:cNvPr id="4" name="Text 2"/>
          <p:cNvSpPr/>
          <p:nvPr/>
        </p:nvSpPr>
        <p:spPr>
          <a:xfrm>
            <a:off x="8412480" y="4709160"/>
            <a:ext cx="457200" cy="274320"/>
          </a:xfrm>
          <a:prstGeom prst="rect">
            <a:avLst/>
          </a:prstGeom>
          <a:noFill/>
          <a:ln/>
        </p:spPr>
        <p:txBody>
          <a:bodyPr wrap="square" rtlCol="0" anchor="ctr"/>
          <a:lstStyle/>
          <a:p>
            <a:pPr marL="0" indent="0" algn="r">
              <a:buNone/>
            </a:pPr>
            <a:r>
              <a:rPr lang="en-US" sz="1000" dirty="0">
                <a:solidFill>
                  <a:srgbClr val="AAAAAA"/>
                </a:solidFill>
                <a:latin typeface="Calibri" pitchFamily="34" charset="0"/>
                <a:ea typeface="Calibri" pitchFamily="34" charset="-122"/>
                <a:cs typeface="Calibri" pitchFamily="34" charset="-120"/>
              </a:rPr>
              <a:t>7</a:t>
            </a:r>
            <a:endParaRPr lang="en-US" sz="1000" dirty="0"/>
          </a:p>
        </p:txBody>
      </p:sp>
      <p:sp>
        <p:nvSpPr>
          <p:cNvPr id="5" name="Text 3"/>
          <p:cNvSpPr/>
          <p:nvPr/>
        </p:nvSpPr>
        <p:spPr>
          <a:xfrm>
            <a:off x="640080" y="1188720"/>
            <a:ext cx="7863840" cy="548640"/>
          </a:xfrm>
          <a:prstGeom prst="rect">
            <a:avLst/>
          </a:prstGeom>
          <a:noFill/>
          <a:ln/>
        </p:spPr>
        <p:txBody>
          <a:bodyPr wrap="square" lIns="0" tIns="0" rIns="0" bIns="0" rtlCol="0" anchor="ctr"/>
          <a:lstStyle/>
          <a:p>
            <a:pPr marL="0" indent="0">
              <a:lnSpc>
                <a:spcPct val="130000"/>
              </a:lnSpc>
              <a:buNone/>
            </a:pPr>
            <a:r>
              <a:rPr lang="en-US" sz="1300" dirty="0">
                <a:solidFill>
                  <a:srgbClr val="AAAAAA"/>
                </a:solidFill>
                <a:latin typeface="Calibri" pitchFamily="34" charset="0"/>
                <a:ea typeface="Calibri" pitchFamily="34" charset="-122"/>
                <a:cs typeface="Calibri" pitchFamily="34" charset="-120"/>
              </a:rPr>
              <a:t>Define what "done" looks like before building. Write acceptance tests for a document</a:t>
            </a:r>
            <a:endParaRPr lang="en-US" sz="1300" dirty="0"/>
          </a:p>
          <a:p>
            <a:pPr marL="0" indent="0">
              <a:lnSpc>
                <a:spcPct val="130000"/>
              </a:lnSpc>
              <a:buNone/>
            </a:pPr>
            <a:r>
              <a:rPr lang="en-US" sz="1300" dirty="0">
                <a:solidFill>
                  <a:srgbClr val="AAAAAA"/>
                </a:solidFill>
                <a:latin typeface="Calibri" pitchFamily="34" charset="0"/>
                <a:ea typeface="Calibri" pitchFamily="34" charset="-122"/>
                <a:cs typeface="Calibri" pitchFamily="34" charset="-120"/>
              </a:rPr>
              <a:t>the same way you write tests for code. The test suite is the contract.</a:t>
            </a:r>
            <a:endParaRPr lang="en-US" sz="1300" dirty="0"/>
          </a:p>
        </p:txBody>
      </p:sp>
      <p:sp>
        <p:nvSpPr>
          <p:cNvPr id="101" name="StepBg1"/>
          <p:cNvSpPr/>
          <p:nvPr/>
        </p:nvSpPr>
        <p:spPr>
          <a:xfrm>
            <a:off x="685800" y="1879600"/>
            <a:ext cx="2413000" cy="1270000"/>
          </a:xfrm>
          <a:prstGeom prst="roundRect">
            <a:avLst>
              <a:gd name="adj" fmla="val 5000"/>
            </a:avLst>
          </a:prstGeom>
          <a:solidFill>
            <a:srgbClr val="1E1E1E"/>
          </a:solidFill>
          <a:ln w="6350">
            <a:solidFill>
              <a:srgbClr val="3A3530"/>
            </a:solidFill>
          </a:ln>
        </p:spPr>
        <p:txBody>
          <a:bodyPr/>
          <a:lstStyle/>
          <a:p>
            <a:endParaRPr lang="en-US"/>
          </a:p>
        </p:txBody>
      </p:sp>
      <p:sp>
        <p:nvSpPr>
          <p:cNvPr id="102" name="Num1"/>
          <p:cNvSpPr/>
          <p:nvPr/>
        </p:nvSpPr>
        <p:spPr>
          <a:xfrm>
            <a:off x="787400" y="1981200"/>
            <a:ext cx="304800" cy="304800"/>
          </a:xfrm>
          <a:prstGeom prst="ellipse">
            <a:avLst/>
          </a:prstGeom>
          <a:solidFill>
            <a:srgbClr val="C87941"/>
          </a:solidFill>
          <a:ln>
            <a:noFill/>
          </a:ln>
        </p:spPr>
        <p:txBody>
          <a:bodyPr wrap="none" lIns="0" tIns="0" rIns="0" bIns="0" anchor="ctr" anchorCtr="1"/>
          <a:lstStyle/>
          <a:p>
            <a:pPr algn="ctr">
              <a:buNone/>
            </a:pPr>
            <a:r>
              <a:rPr lang="en-US" sz="1400" b="1" dirty="0">
                <a:solidFill>
                  <a:srgbClr val="FFFFFF"/>
                </a:solidFill>
                <a:latin typeface="Calibri" pitchFamily="34" charset="0"/>
              </a:rPr>
              <a:t>1</a:t>
            </a:r>
          </a:p>
        </p:txBody>
      </p:sp>
      <p:sp>
        <p:nvSpPr>
          <p:cNvPr id="100" name="StepText1"/>
          <p:cNvSpPr/>
          <p:nvPr/>
        </p:nvSpPr>
        <p:spPr>
          <a:xfrm>
            <a:off x="1193800" y="1981200"/>
            <a:ext cx="1752600" cy="304800"/>
          </a:xfrm>
          <a:prstGeom prst="rect">
            <a:avLst/>
          </a:prstGeom>
          <a:noFill/>
          <a:ln>
            <a:noFill/>
          </a:ln>
        </p:spPr>
        <p:txBody>
          <a:bodyPr wrap="square" lIns="0" tIns="0" rIns="0" bIns="0" anchor="ctr"/>
          <a:lstStyle/>
          <a:p>
            <a:pPr marL="0" indent="0">
              <a:buNone/>
            </a:pPr>
            <a:r>
              <a:rPr lang="en-US" sz="1400" b="1" dirty="0">
                <a:solidFill>
                  <a:srgbClr val="F0EDE6"/>
                </a:solidFill>
                <a:latin typeface="Calibri" pitchFamily="34" charset="0"/>
                <a:ea typeface="Calibri" pitchFamily="34" charset="-122"/>
                <a:cs typeface="Calibri" pitchFamily="34" charset="-120"/>
              </a:rPr>
              <a:t>Define tests</a:t>
            </a:r>
          </a:p>
        </p:txBody>
      </p:sp>
      <p:sp>
        <p:nvSpPr>
          <p:cNvPr id="105" name="StepDesc1"/>
          <p:cNvSpPr/>
          <p:nvPr/>
        </p:nvSpPr>
        <p:spPr>
          <a:xfrm>
            <a:off x="812800" y="2362200"/>
            <a:ext cx="2159000" cy="660400"/>
          </a:xfrm>
          <a:prstGeom prst="rect">
            <a:avLst/>
          </a:prstGeom>
          <a:noFill/>
          <a:ln>
            <a:noFill/>
          </a:ln>
        </p:spPr>
        <p:txBody>
          <a:bodyPr wrap="square" lIns="0" tIns="0" rIns="0" bIns="0" anchor="t"/>
          <a:lstStyle/>
          <a:p>
            <a:pPr marL="0" indent="0">
              <a:lnSpc>
                <a:spcPct val="115000"/>
              </a:lnSpc>
              <a:buNone/>
            </a:pPr>
            <a:r>
              <a:rPr lang="en-US" sz="1100" dirty="0">
                <a:solidFill>
                  <a:srgbClr val="AAAAAA"/>
                </a:solidFill>
                <a:latin typeface="Calibri" pitchFamily="34" charset="0"/>
                <a:ea typeface="Calibri" pitchFamily="34" charset="-122"/>
                <a:cs typeface="Calibri" pitchFamily="34" charset="-120"/>
              </a:rPr>
              <a:t>Write acceptance criteria upfront: structure, technical accuracy, tone, completeness. The test suite is the spec.</a:t>
            </a:r>
          </a:p>
        </p:txBody>
      </p:sp>
      <p:sp>
        <p:nvSpPr>
          <p:cNvPr id="111" name="StepBg2"/>
          <p:cNvSpPr/>
          <p:nvPr/>
        </p:nvSpPr>
        <p:spPr>
          <a:xfrm>
            <a:off x="3365500" y="1879600"/>
            <a:ext cx="2413000" cy="1270000"/>
          </a:xfrm>
          <a:prstGeom prst="roundRect">
            <a:avLst>
              <a:gd name="adj" fmla="val 5000"/>
            </a:avLst>
          </a:prstGeom>
          <a:solidFill>
            <a:srgbClr val="1E1E1E"/>
          </a:solidFill>
          <a:ln w="6350">
            <a:solidFill>
              <a:srgbClr val="3A3530"/>
            </a:solidFill>
          </a:ln>
        </p:spPr>
        <p:txBody>
          <a:bodyPr/>
          <a:lstStyle/>
          <a:p>
            <a:endParaRPr lang="en-US"/>
          </a:p>
        </p:txBody>
      </p:sp>
      <p:sp>
        <p:nvSpPr>
          <p:cNvPr id="112" name="Num2"/>
          <p:cNvSpPr/>
          <p:nvPr/>
        </p:nvSpPr>
        <p:spPr>
          <a:xfrm>
            <a:off x="3467100" y="1981200"/>
            <a:ext cx="304800" cy="304800"/>
          </a:xfrm>
          <a:prstGeom prst="ellipse">
            <a:avLst/>
          </a:prstGeom>
          <a:solidFill>
            <a:srgbClr val="C87941"/>
          </a:solidFill>
          <a:ln>
            <a:noFill/>
          </a:ln>
        </p:spPr>
        <p:txBody>
          <a:bodyPr wrap="none" lIns="0" tIns="0" rIns="0" bIns="0" anchor="ctr" anchorCtr="1"/>
          <a:lstStyle/>
          <a:p>
            <a:pPr algn="ctr">
              <a:buNone/>
            </a:pPr>
            <a:r>
              <a:rPr lang="en-US" sz="1400" b="1" dirty="0">
                <a:solidFill>
                  <a:srgbClr val="FFFFFF"/>
                </a:solidFill>
                <a:latin typeface="Calibri" pitchFamily="34" charset="0"/>
              </a:rPr>
              <a:t>2</a:t>
            </a:r>
          </a:p>
        </p:txBody>
      </p:sp>
      <p:sp>
        <p:nvSpPr>
          <p:cNvPr id="110" name="StepText2"/>
          <p:cNvSpPr/>
          <p:nvPr/>
        </p:nvSpPr>
        <p:spPr>
          <a:xfrm>
            <a:off x="3873500" y="1981200"/>
            <a:ext cx="1752600" cy="304800"/>
          </a:xfrm>
          <a:prstGeom prst="rect">
            <a:avLst/>
          </a:prstGeom>
          <a:noFill/>
          <a:ln>
            <a:noFill/>
          </a:ln>
        </p:spPr>
        <p:txBody>
          <a:bodyPr wrap="square" lIns="0" tIns="0" rIns="0" bIns="0" anchor="ctr"/>
          <a:lstStyle/>
          <a:p>
            <a:pPr marL="0" indent="0">
              <a:buNone/>
            </a:pPr>
            <a:r>
              <a:rPr lang="en-US" sz="1400" b="1" dirty="0">
                <a:solidFill>
                  <a:srgbClr val="F0EDE6"/>
                </a:solidFill>
                <a:latin typeface="Calibri" pitchFamily="34" charset="0"/>
                <a:ea typeface="Calibri" pitchFamily="34" charset="-122"/>
                <a:cs typeface="Calibri" pitchFamily="34" charset="-120"/>
              </a:rPr>
              <a:t>Build draft</a:t>
            </a:r>
          </a:p>
        </p:txBody>
      </p:sp>
      <p:sp>
        <p:nvSpPr>
          <p:cNvPr id="115" name="StepDesc2"/>
          <p:cNvSpPr/>
          <p:nvPr/>
        </p:nvSpPr>
        <p:spPr>
          <a:xfrm>
            <a:off x="3492500" y="2362200"/>
            <a:ext cx="2159000" cy="660400"/>
          </a:xfrm>
          <a:prstGeom prst="rect">
            <a:avLst/>
          </a:prstGeom>
          <a:noFill/>
          <a:ln>
            <a:noFill/>
          </a:ln>
        </p:spPr>
        <p:txBody>
          <a:bodyPr wrap="square" lIns="0" tIns="0" rIns="0" bIns="0" anchor="t"/>
          <a:lstStyle/>
          <a:p>
            <a:pPr marL="0" indent="0">
              <a:lnSpc>
                <a:spcPct val="115000"/>
              </a:lnSpc>
              <a:buNone/>
            </a:pPr>
            <a:r>
              <a:rPr lang="en-US" sz="1100" dirty="0">
                <a:solidFill>
                  <a:srgbClr val="AAAAAA"/>
                </a:solidFill>
                <a:latin typeface="Calibri" pitchFamily="34" charset="0"/>
                <a:ea typeface="Calibri" pitchFamily="34" charset="-122"/>
                <a:cs typeface="Calibri" pitchFamily="34" charset="-120"/>
              </a:rPr>
              <a:t>Specialist agents produce content independently. Each section written by the domain expert, not a generalist.</a:t>
            </a:r>
          </a:p>
        </p:txBody>
      </p:sp>
      <p:sp>
        <p:nvSpPr>
          <p:cNvPr id="121" name="StepBg3"/>
          <p:cNvSpPr/>
          <p:nvPr/>
        </p:nvSpPr>
        <p:spPr>
          <a:xfrm>
            <a:off x="6045200" y="1879600"/>
            <a:ext cx="2413000" cy="1270000"/>
          </a:xfrm>
          <a:prstGeom prst="roundRect">
            <a:avLst>
              <a:gd name="adj" fmla="val 5000"/>
            </a:avLst>
          </a:prstGeom>
          <a:solidFill>
            <a:srgbClr val="1E1E1E"/>
          </a:solidFill>
          <a:ln w="6350">
            <a:solidFill>
              <a:srgbClr val="3A3530"/>
            </a:solidFill>
          </a:ln>
        </p:spPr>
        <p:txBody>
          <a:bodyPr/>
          <a:lstStyle/>
          <a:p>
            <a:endParaRPr lang="en-US"/>
          </a:p>
        </p:txBody>
      </p:sp>
      <p:sp>
        <p:nvSpPr>
          <p:cNvPr id="122" name="Num3"/>
          <p:cNvSpPr/>
          <p:nvPr/>
        </p:nvSpPr>
        <p:spPr>
          <a:xfrm>
            <a:off x="6146800" y="1981200"/>
            <a:ext cx="304800" cy="304800"/>
          </a:xfrm>
          <a:prstGeom prst="ellipse">
            <a:avLst/>
          </a:prstGeom>
          <a:solidFill>
            <a:srgbClr val="C87941"/>
          </a:solidFill>
          <a:ln>
            <a:noFill/>
          </a:ln>
        </p:spPr>
        <p:txBody>
          <a:bodyPr wrap="none" lIns="0" tIns="0" rIns="0" bIns="0" anchor="ctr" anchorCtr="1"/>
          <a:lstStyle/>
          <a:p>
            <a:pPr algn="ctr">
              <a:buNone/>
            </a:pPr>
            <a:r>
              <a:rPr lang="en-US" sz="1400" b="1" dirty="0">
                <a:solidFill>
                  <a:srgbClr val="FFFFFF"/>
                </a:solidFill>
                <a:latin typeface="Calibri" pitchFamily="34" charset="0"/>
              </a:rPr>
              <a:t>3</a:t>
            </a:r>
          </a:p>
        </p:txBody>
      </p:sp>
      <p:sp>
        <p:nvSpPr>
          <p:cNvPr id="120" name="StepText3"/>
          <p:cNvSpPr/>
          <p:nvPr/>
        </p:nvSpPr>
        <p:spPr>
          <a:xfrm>
            <a:off x="6553200" y="1981200"/>
            <a:ext cx="1752600" cy="304800"/>
          </a:xfrm>
          <a:prstGeom prst="rect">
            <a:avLst/>
          </a:prstGeom>
          <a:noFill/>
          <a:ln>
            <a:noFill/>
          </a:ln>
        </p:spPr>
        <p:txBody>
          <a:bodyPr wrap="square" lIns="0" tIns="0" rIns="0" bIns="0" anchor="ctr"/>
          <a:lstStyle/>
          <a:p>
            <a:pPr marL="0" indent="0">
              <a:buNone/>
            </a:pPr>
            <a:r>
              <a:rPr lang="en-US" sz="1400" b="1" dirty="0">
                <a:solidFill>
                  <a:srgbClr val="F0EDE6"/>
                </a:solidFill>
                <a:latin typeface="Calibri" pitchFamily="34" charset="0"/>
                <a:ea typeface="Calibri" pitchFamily="34" charset="-122"/>
                <a:cs typeface="Calibri" pitchFamily="34" charset="-120"/>
              </a:rPr>
              <a:t>Validate &amp; iterate</a:t>
            </a:r>
          </a:p>
        </p:txBody>
      </p:sp>
      <p:sp>
        <p:nvSpPr>
          <p:cNvPr id="125" name="StepDesc3"/>
          <p:cNvSpPr/>
          <p:nvPr/>
        </p:nvSpPr>
        <p:spPr>
          <a:xfrm>
            <a:off x="6172200" y="2362200"/>
            <a:ext cx="2159000" cy="660400"/>
          </a:xfrm>
          <a:prstGeom prst="rect">
            <a:avLst/>
          </a:prstGeom>
          <a:noFill/>
          <a:ln>
            <a:noFill/>
          </a:ln>
        </p:spPr>
        <p:txBody>
          <a:bodyPr wrap="square" lIns="0" tIns="0" rIns="0" bIns="0" anchor="t"/>
          <a:lstStyle/>
          <a:p>
            <a:pPr marL="0" indent="0">
              <a:lnSpc>
                <a:spcPct val="115000"/>
              </a:lnSpc>
              <a:buNone/>
            </a:pPr>
            <a:r>
              <a:rPr lang="en-US" sz="1100" dirty="0">
                <a:solidFill>
                  <a:srgbClr val="AAAAAA"/>
                </a:solidFill>
                <a:latin typeface="Calibri" pitchFamily="34" charset="0"/>
                <a:ea typeface="Calibri" pitchFamily="34" charset="-122"/>
                <a:cs typeface="Calibri" pitchFamily="34" charset="-120"/>
              </a:rPr>
              <a:t>Run every section against the test suite. Failures trigger targeted rewrites—not full regeneration.</a:t>
            </a:r>
          </a:p>
        </p:txBody>
      </p:sp>
      <p:sp>
        <p:nvSpPr>
          <p:cNvPr id="130" name="Arrow"/>
          <p:cNvSpPr/>
          <p:nvPr/>
        </p:nvSpPr>
        <p:spPr>
          <a:xfrm>
            <a:off x="3098800" y="2463800"/>
            <a:ext cx="266700" cy="101600"/>
          </a:xfrm>
          <a:prstGeom prst="rightArrow">
            <a:avLst>
              <a:gd name="adj1" fmla="val 50000"/>
              <a:gd name="adj2" fmla="val 50000"/>
            </a:avLst>
          </a:prstGeom>
          <a:solidFill>
            <a:srgbClr val="C87941"/>
          </a:solidFill>
          <a:ln>
            <a:noFill/>
          </a:ln>
        </p:spPr>
        <p:txBody>
          <a:bodyPr/>
          <a:lstStyle/>
          <a:p>
            <a:endParaRPr lang="en-US"/>
          </a:p>
        </p:txBody>
      </p:sp>
      <p:sp>
        <p:nvSpPr>
          <p:cNvPr id="131" name="Arrow"/>
          <p:cNvSpPr/>
          <p:nvPr/>
        </p:nvSpPr>
        <p:spPr>
          <a:xfrm>
            <a:off x="5778500" y="2463800"/>
            <a:ext cx="266700" cy="101600"/>
          </a:xfrm>
          <a:prstGeom prst="rightArrow">
            <a:avLst>
              <a:gd name="adj1" fmla="val 50000"/>
              <a:gd name="adj2" fmla="val 50000"/>
            </a:avLst>
          </a:prstGeom>
          <a:solidFill>
            <a:srgbClr val="C87941"/>
          </a:solidFill>
          <a:ln>
            <a:noFill/>
          </a:ln>
        </p:spPr>
        <p:txBody>
          <a:bodyPr/>
          <a:lstStyle/>
          <a:p>
            <a:endParaRPr lang="en-US"/>
          </a:p>
        </p:txBody>
      </p:sp>
      <p:sp>
        <p:nvSpPr>
          <p:cNvPr id="140" name="Insight"/>
          <p:cNvSpPr/>
          <p:nvPr/>
        </p:nvSpPr>
        <p:spPr>
          <a:xfrm>
            <a:off x="685800" y="3365500"/>
            <a:ext cx="7772400" cy="635000"/>
          </a:xfrm>
          <a:prstGeom prst="rect">
            <a:avLst/>
          </a:prstGeom>
          <a:noFill/>
          <a:ln>
            <a:noFill/>
          </a:ln>
        </p:spPr>
        <p:txBody>
          <a:bodyPr wrap="square" lIns="0" tIns="0" rIns="0" bIns="0" anchor="t"/>
          <a:lstStyle/>
          <a:p>
            <a:pPr marL="0" indent="0">
              <a:buNone/>
            </a:pPr>
            <a:r>
              <a:rPr lang="en-US" sz="1200" i="1" dirty="0">
                <a:solidFill>
                  <a:srgbClr val="AAAAAA"/>
                </a:solidFill>
                <a:latin typeface="Calibri" pitchFamily="34" charset="0"/>
                <a:ea typeface="Calibri" pitchFamily="34" charset="-122"/>
                <a:cs typeface="Calibri" pitchFamily="34" charset="-120"/>
              </a:rPr>
              <a:t>Result: First-draft quality jumps from ~40% to ~85%. Review cycles drop from 5+ rounds to 1–2.</a:t>
            </a:r>
          </a:p>
          <a:p>
            <a:pPr marL="0" indent="0">
              <a:buNone/>
            </a:pPr>
            <a:r>
              <a:rPr lang="en-US" sz="1200" i="1" dirty="0">
                <a:solidFill>
                  <a:srgbClr val="AAAAAA"/>
                </a:solidFill>
                <a:latin typeface="Calibri" pitchFamily="34" charset="0"/>
                <a:ea typeface="Calibri" pitchFamily="34" charset="-122"/>
                <a:cs typeface="Calibri" pitchFamily="34" charset="-120"/>
              </a:rPr>
              <a:t>The test suite becomes institutional memory—reusable across projects.</a:t>
            </a:r>
          </a:p>
        </p:txBody>
      </p:sp>
    </p:spTree>
    <p:extLst>
      <p:ext uri="{BB962C8B-B14F-4D97-AF65-F5344CB8AC3E}">
        <p14:creationId xmlns:p14="http://schemas.microsoft.com/office/powerpoint/2010/main" val="1178832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3071513-43CA-4D38-88C2-2FC116EE6280}">
  <we:reference id="wa200010001" version="1.0.0.1" store="en-US" storeType="OMEX"/>
  <we:alternateReferences>
    <we:reference id="wa200010001" version="1.0.0.1" store="" storeType="OMEX"/>
  </we:alternateReferences>
  <we:properties>
    <we:property name="claude.fileId" value="&quot;dd36f6bf-48ef-412c-89e1-38426e7cf21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4761</TotalTime>
  <Words>1643</Words>
  <Application>Microsoft Office PowerPoint</Application>
  <PresentationFormat>On-screen Show (16:9)</PresentationFormat>
  <Paragraphs>271</Paragraphs>
  <Slides>36</Slides>
  <Notes>36</Notes>
  <HiddenSlides>0</HiddenSlides>
  <MMClips>3</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2" baseType="lpstr">
      <vt:lpstr>Arial</vt:lpstr>
      <vt:lpstr>Calibri</vt:lpstr>
      <vt:lpstr>Consolas</vt:lpstr>
      <vt:lpstr>Georgia</vt:lpstr>
      <vt:lpstr>Office Theme</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Reasoning: AI-Augmented Technical Work for Small Teams</dc:title>
  <dc:subject>PptxGenJS Presentation</dc:subject>
  <dc:creator>Quinn Morley</dc:creator>
  <cp:lastModifiedBy>Quinn Morley</cp:lastModifiedBy>
  <cp:revision>2</cp:revision>
  <dcterms:created xsi:type="dcterms:W3CDTF">2026-04-14T05:10:50Z</dcterms:created>
  <dcterms:modified xsi:type="dcterms:W3CDTF">2026-05-30T16:40:26Z</dcterms:modified>
</cp:coreProperties>
</file>